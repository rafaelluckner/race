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88952" cy="2103120"/>
          </a:xfrm>
          <a:prstGeom prst="rect">
            <a:avLst/>
          </a:prstGeom>
          <a:solidFill>
            <a:srgbClr val="12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FFFFFF"/>
                </a:solidFill>
              </a:rPr>
              <a:t>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FD7FF"/>
                </a:solidFill>
              </a:rPr>
              <a:t>Reconhecimento e Avaliação Computacional de Exercícios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39C12"/>
                </a:solidFill>
              </a:rPr>
              <a:t>Conclusões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37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B4E0"/>
                </a:solidFill>
              </a:rPr>
              <a:t>Rafael Luckner Flora  ·  Leticia Ruivo Tambelli  ·  Paulo Vitor Nascimento Silva  ·  Rodrigo Araújo Sousa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76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0B4E0"/>
                </a:solidFill>
              </a:rPr>
              <a:t>Orientador: Prof. Dr. Jaime Ranulfo Leite Filho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63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096C0"/>
                </a:solidFill>
              </a:rPr>
              <a:t>Visão Computacional e Reconhecimento de Imagens  ·  UNISO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 que o RACE se propôs a resolver?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" y="6583680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FD7FF"/>
                </a:solidFill>
              </a:rPr>
              <a:t>RACE — Reconhecimento e Avaliação Computacional de Exercícios | UNISO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394960" cy="5212080"/>
          </a:xfrm>
          <a:prstGeom prst="rect">
            <a:avLst/>
          </a:prstGeom>
          <a:solidFill>
            <a:srgbClr val="FFF5EE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9A5200"/>
                </a:solidFill>
              </a:rPr>
              <a:t>Problema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55648"/>
            <a:ext cx="5074920" cy="2667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dirty="0">
                <a:solidFill>
                  <a:srgbClr val="333333"/>
                </a:solidFill>
              </a:rPr>
              <a:t>▸ </a:t>
            </a:r>
            <a:r>
              <a:rPr dirty="0" err="1">
                <a:solidFill>
                  <a:srgbClr val="333333"/>
                </a:solidFill>
              </a:rPr>
              <a:t>Monitorar</a:t>
            </a:r>
            <a:r>
              <a:rPr dirty="0">
                <a:solidFill>
                  <a:srgbClr val="333333"/>
                </a:solidFill>
              </a:rPr>
              <a:t> </a:t>
            </a:r>
            <a:r>
              <a:rPr dirty="0" err="1">
                <a:solidFill>
                  <a:srgbClr val="333333"/>
                </a:solidFill>
              </a:rPr>
              <a:t>exercícios</a:t>
            </a:r>
            <a:r>
              <a:rPr dirty="0">
                <a:solidFill>
                  <a:srgbClr val="333333"/>
                </a:solidFill>
              </a:rPr>
              <a:t> </a:t>
            </a:r>
            <a:r>
              <a:rPr dirty="0" err="1">
                <a:solidFill>
                  <a:srgbClr val="333333"/>
                </a:solidFill>
              </a:rPr>
              <a:t>exige</a:t>
            </a:r>
            <a:r>
              <a:rPr dirty="0">
                <a:solidFill>
                  <a:srgbClr val="333333"/>
                </a:solidFill>
              </a:rPr>
              <a:t>
   </a:t>
            </a:r>
            <a:r>
              <a:rPr dirty="0" err="1">
                <a:solidFill>
                  <a:srgbClr val="333333"/>
                </a:solidFill>
              </a:rPr>
              <a:t>fisioterapeuta</a:t>
            </a:r>
            <a:r>
              <a:rPr dirty="0">
                <a:solidFill>
                  <a:srgbClr val="333333"/>
                </a:solidFill>
              </a:rPr>
              <a:t> </a:t>
            </a:r>
            <a:r>
              <a:rPr dirty="0" err="1">
                <a:solidFill>
                  <a:srgbClr val="333333"/>
                </a:solidFill>
              </a:rPr>
              <a:t>ou</a:t>
            </a:r>
            <a:r>
              <a:rPr dirty="0">
                <a:solidFill>
                  <a:srgbClr val="333333"/>
                </a:solidFill>
              </a:rPr>
              <a:t> personal trainer</a:t>
            </a:r>
            <a:endParaRPr lang="pt-BR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endParaRPr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dirty="0">
                <a:solidFill>
                  <a:srgbClr val="333333"/>
                </a:solidFill>
              </a:rPr>
              <a:t>▸ </a:t>
            </a:r>
            <a:r>
              <a:rPr dirty="0" err="1">
                <a:solidFill>
                  <a:srgbClr val="333333"/>
                </a:solidFill>
              </a:rPr>
              <a:t>Sensores</a:t>
            </a:r>
            <a:r>
              <a:rPr dirty="0">
                <a:solidFill>
                  <a:srgbClr val="333333"/>
                </a:solidFill>
              </a:rPr>
              <a:t> </a:t>
            </a:r>
            <a:r>
              <a:rPr dirty="0" err="1">
                <a:solidFill>
                  <a:srgbClr val="333333"/>
                </a:solidFill>
              </a:rPr>
              <a:t>dedicados</a:t>
            </a:r>
            <a:r>
              <a:rPr dirty="0">
                <a:solidFill>
                  <a:srgbClr val="333333"/>
                </a:solidFill>
              </a:rPr>
              <a:t> </a:t>
            </a:r>
            <a:r>
              <a:rPr dirty="0" err="1">
                <a:solidFill>
                  <a:srgbClr val="333333"/>
                </a:solidFill>
              </a:rPr>
              <a:t>são</a:t>
            </a:r>
            <a:r>
              <a:rPr dirty="0">
                <a:solidFill>
                  <a:srgbClr val="333333"/>
                </a:solidFill>
              </a:rPr>
              <a:t> </a:t>
            </a:r>
            <a:r>
              <a:rPr dirty="0" err="1">
                <a:solidFill>
                  <a:srgbClr val="333333"/>
                </a:solidFill>
              </a:rPr>
              <a:t>caros</a:t>
            </a:r>
            <a:r>
              <a:rPr dirty="0">
                <a:solidFill>
                  <a:srgbClr val="333333"/>
                </a:solidFill>
              </a:rPr>
              <a:t>
   e de </a:t>
            </a:r>
            <a:r>
              <a:rPr dirty="0" err="1">
                <a:solidFill>
                  <a:srgbClr val="333333"/>
                </a:solidFill>
              </a:rPr>
              <a:t>difícil</a:t>
            </a:r>
            <a:r>
              <a:rPr dirty="0">
                <a:solidFill>
                  <a:srgbClr val="333333"/>
                </a:solidFill>
              </a:rPr>
              <a:t> </a:t>
            </a:r>
            <a:r>
              <a:rPr dirty="0" err="1">
                <a:solidFill>
                  <a:srgbClr val="333333"/>
                </a:solidFill>
              </a:rPr>
              <a:t>acesso</a:t>
            </a:r>
            <a:endParaRPr lang="pt-BR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endParaRPr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dirty="0">
                <a:solidFill>
                  <a:srgbClr val="333333"/>
                </a:solidFill>
              </a:rPr>
              <a:t>▸ </a:t>
            </a:r>
            <a:r>
              <a:rPr dirty="0" err="1">
                <a:solidFill>
                  <a:srgbClr val="333333"/>
                </a:solidFill>
              </a:rPr>
              <a:t>Soluções</a:t>
            </a:r>
            <a:r>
              <a:rPr dirty="0">
                <a:solidFill>
                  <a:srgbClr val="333333"/>
                </a:solidFill>
              </a:rPr>
              <a:t> </a:t>
            </a:r>
            <a:r>
              <a:rPr dirty="0" err="1">
                <a:solidFill>
                  <a:srgbClr val="333333"/>
                </a:solidFill>
              </a:rPr>
              <a:t>existentes</a:t>
            </a:r>
            <a:r>
              <a:rPr dirty="0">
                <a:solidFill>
                  <a:srgbClr val="333333"/>
                </a:solidFill>
              </a:rPr>
              <a:t> </a:t>
            </a:r>
            <a:r>
              <a:rPr dirty="0" err="1">
                <a:solidFill>
                  <a:srgbClr val="333333"/>
                </a:solidFill>
              </a:rPr>
              <a:t>exigem</a:t>
            </a:r>
            <a:r>
              <a:rPr dirty="0">
                <a:solidFill>
                  <a:srgbClr val="333333"/>
                </a:solidFill>
              </a:rPr>
              <a:t>
   </a:t>
            </a:r>
            <a:r>
              <a:rPr dirty="0" err="1">
                <a:solidFill>
                  <a:srgbClr val="333333"/>
                </a:solidFill>
              </a:rPr>
              <a:t>marcadores</a:t>
            </a:r>
            <a:r>
              <a:rPr dirty="0">
                <a:solidFill>
                  <a:srgbClr val="333333"/>
                </a:solidFill>
              </a:rPr>
              <a:t> </a:t>
            </a:r>
            <a:r>
              <a:rPr dirty="0" err="1">
                <a:solidFill>
                  <a:srgbClr val="333333"/>
                </a:solidFill>
              </a:rPr>
              <a:t>corporais</a:t>
            </a:r>
            <a:r>
              <a:rPr dirty="0">
                <a:solidFill>
                  <a:srgbClr val="333333"/>
                </a:solidFill>
              </a:rPr>
              <a:t> </a:t>
            </a:r>
            <a:r>
              <a:rPr dirty="0" err="1">
                <a:solidFill>
                  <a:srgbClr val="333333"/>
                </a:solidFill>
              </a:rPr>
              <a:t>ou</a:t>
            </a:r>
            <a:r>
              <a:rPr dirty="0">
                <a:solidFill>
                  <a:srgbClr val="333333"/>
                </a:solidFill>
              </a:rPr>
              <a:t> </a:t>
            </a:r>
            <a:r>
              <a:rPr dirty="0" err="1">
                <a:solidFill>
                  <a:srgbClr val="333333"/>
                </a:solidFill>
              </a:rPr>
              <a:t>câmeras</a:t>
            </a:r>
            <a:r>
              <a:rPr dirty="0">
                <a:solidFill>
                  <a:srgbClr val="333333"/>
                </a:solidFill>
              </a:rPr>
              <a:t> </a:t>
            </a:r>
            <a:r>
              <a:rPr dirty="0" err="1">
                <a:solidFill>
                  <a:srgbClr val="333333"/>
                </a:solidFill>
              </a:rPr>
              <a:t>especiais</a:t>
            </a:r>
            <a:endParaRPr dirty="0">
              <a:solidFill>
                <a:srgbClr val="333333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60720" y="32918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45C9E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188720"/>
            <a:ext cx="5394960" cy="5212080"/>
          </a:xfrm>
          <a:prstGeom prst="rect">
            <a:avLst/>
          </a:prstGeom>
          <a:solidFill>
            <a:srgbClr val="F0F8FF"/>
          </a:solidFill>
          <a:ln w="25400">
            <a:solidFill>
              <a:srgbClr val="24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20840" y="129844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75E"/>
                </a:solidFill>
              </a:rPr>
              <a:t>Proposta: RACE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755648"/>
            <a:ext cx="5074920" cy="3611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dirty="0">
                <a:solidFill>
                  <a:srgbClr val="333333"/>
                </a:solidFill>
              </a:rPr>
              <a:t>▸ </a:t>
            </a:r>
            <a:r>
              <a:rPr sz="1600" dirty="0" err="1">
                <a:solidFill>
                  <a:srgbClr val="333333"/>
                </a:solidFill>
              </a:rPr>
              <a:t>Vídeo</a:t>
            </a:r>
            <a:r>
              <a:rPr sz="1600" dirty="0">
                <a:solidFill>
                  <a:srgbClr val="333333"/>
                </a:solidFill>
              </a:rPr>
              <a:t> </a:t>
            </a:r>
            <a:r>
              <a:rPr sz="1600" dirty="0" err="1">
                <a:solidFill>
                  <a:srgbClr val="333333"/>
                </a:solidFill>
              </a:rPr>
              <a:t>comum</a:t>
            </a:r>
            <a:r>
              <a:rPr sz="1600" dirty="0">
                <a:solidFill>
                  <a:srgbClr val="333333"/>
                </a:solidFill>
              </a:rPr>
              <a:t> </a:t>
            </a:r>
            <a:r>
              <a:rPr sz="1600" dirty="0" err="1">
                <a:solidFill>
                  <a:srgbClr val="333333"/>
                </a:solidFill>
              </a:rPr>
              <a:t>como</a:t>
            </a:r>
            <a:r>
              <a:rPr sz="1600" dirty="0">
                <a:solidFill>
                  <a:srgbClr val="333333"/>
                </a:solidFill>
              </a:rPr>
              <a:t> </a:t>
            </a:r>
            <a:r>
              <a:rPr sz="1600" dirty="0" err="1">
                <a:solidFill>
                  <a:srgbClr val="333333"/>
                </a:solidFill>
              </a:rPr>
              <a:t>única</a:t>
            </a:r>
            <a:r>
              <a:rPr sz="1600" dirty="0">
                <a:solidFill>
                  <a:srgbClr val="333333"/>
                </a:solidFill>
              </a:rPr>
              <a:t> entrada</a:t>
            </a:r>
            <a:endParaRPr lang="pt-BR" sz="160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endParaRPr sz="160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1600" dirty="0">
                <a:solidFill>
                  <a:srgbClr val="333333"/>
                </a:solidFill>
              </a:rPr>
              <a:t>▸ </a:t>
            </a:r>
            <a:r>
              <a:rPr sz="1600" dirty="0" err="1">
                <a:solidFill>
                  <a:srgbClr val="333333"/>
                </a:solidFill>
              </a:rPr>
              <a:t>MediaPipe</a:t>
            </a:r>
            <a:r>
              <a:rPr sz="1600" dirty="0">
                <a:solidFill>
                  <a:srgbClr val="333333"/>
                </a:solidFill>
              </a:rPr>
              <a:t> Pose: 33 landmarks,
   </a:t>
            </a:r>
            <a:r>
              <a:rPr sz="1600" dirty="0" err="1">
                <a:solidFill>
                  <a:srgbClr val="333333"/>
                </a:solidFill>
              </a:rPr>
              <a:t>sem</a:t>
            </a:r>
            <a:r>
              <a:rPr sz="1600" dirty="0">
                <a:solidFill>
                  <a:srgbClr val="333333"/>
                </a:solidFill>
              </a:rPr>
              <a:t> </a:t>
            </a:r>
            <a:r>
              <a:rPr sz="1600" dirty="0" err="1">
                <a:solidFill>
                  <a:srgbClr val="333333"/>
                </a:solidFill>
              </a:rPr>
              <a:t>marcadores</a:t>
            </a:r>
            <a:r>
              <a:rPr sz="1600" dirty="0">
                <a:solidFill>
                  <a:srgbClr val="333333"/>
                </a:solidFill>
              </a:rPr>
              <a:t>, </a:t>
            </a:r>
            <a:r>
              <a:rPr sz="1600" dirty="0" err="1">
                <a:solidFill>
                  <a:srgbClr val="333333"/>
                </a:solidFill>
              </a:rPr>
              <a:t>em</a:t>
            </a:r>
            <a:r>
              <a:rPr sz="1600" dirty="0">
                <a:solidFill>
                  <a:srgbClr val="333333"/>
                </a:solidFill>
              </a:rPr>
              <a:t> tempo real</a:t>
            </a:r>
            <a:endParaRPr lang="pt-BR" sz="160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endParaRPr sz="160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1600" dirty="0">
                <a:solidFill>
                  <a:srgbClr val="333333"/>
                </a:solidFill>
              </a:rPr>
              <a:t>▸ 8 </a:t>
            </a:r>
            <a:r>
              <a:rPr sz="1600" dirty="0" err="1">
                <a:solidFill>
                  <a:srgbClr val="333333"/>
                </a:solidFill>
              </a:rPr>
              <a:t>ângulos</a:t>
            </a:r>
            <a:r>
              <a:rPr sz="1600" dirty="0">
                <a:solidFill>
                  <a:srgbClr val="333333"/>
                </a:solidFill>
              </a:rPr>
              <a:t> </a:t>
            </a:r>
            <a:r>
              <a:rPr sz="1600" dirty="0" err="1">
                <a:solidFill>
                  <a:srgbClr val="333333"/>
                </a:solidFill>
              </a:rPr>
              <a:t>articulares</a:t>
            </a:r>
            <a:r>
              <a:rPr sz="1600" dirty="0">
                <a:solidFill>
                  <a:srgbClr val="333333"/>
                </a:solidFill>
              </a:rPr>
              <a:t> </a:t>
            </a:r>
            <a:r>
              <a:rPr sz="1600" dirty="0" err="1">
                <a:solidFill>
                  <a:srgbClr val="333333"/>
                </a:solidFill>
              </a:rPr>
              <a:t>bilaterais</a:t>
            </a:r>
            <a:r>
              <a:rPr sz="1600" dirty="0">
                <a:solidFill>
                  <a:srgbClr val="333333"/>
                </a:solidFill>
              </a:rPr>
              <a:t>
   </a:t>
            </a:r>
            <a:r>
              <a:rPr sz="1600" dirty="0" err="1">
                <a:solidFill>
                  <a:srgbClr val="333333"/>
                </a:solidFill>
              </a:rPr>
              <a:t>ponderados</a:t>
            </a:r>
            <a:r>
              <a:rPr sz="1600" dirty="0">
                <a:solidFill>
                  <a:srgbClr val="333333"/>
                </a:solidFill>
              </a:rPr>
              <a:t> </a:t>
            </a:r>
            <a:r>
              <a:rPr sz="1600" dirty="0" err="1">
                <a:solidFill>
                  <a:srgbClr val="333333"/>
                </a:solidFill>
              </a:rPr>
              <a:t>por</a:t>
            </a:r>
            <a:r>
              <a:rPr sz="1600" dirty="0">
                <a:solidFill>
                  <a:srgbClr val="333333"/>
                </a:solidFill>
              </a:rPr>
              <a:t> </a:t>
            </a:r>
            <a:r>
              <a:rPr sz="1600" dirty="0" err="1">
                <a:solidFill>
                  <a:srgbClr val="333333"/>
                </a:solidFill>
              </a:rPr>
              <a:t>visibilidade</a:t>
            </a:r>
            <a:endParaRPr lang="pt-BR" sz="160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endParaRPr sz="160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1600" dirty="0">
                <a:solidFill>
                  <a:srgbClr val="333333"/>
                </a:solidFill>
              </a:rPr>
              <a:t>▸ Random Forest (</a:t>
            </a:r>
            <a:r>
              <a:rPr sz="1600" dirty="0" err="1">
                <a:solidFill>
                  <a:srgbClr val="333333"/>
                </a:solidFill>
              </a:rPr>
              <a:t>janelas</a:t>
            </a:r>
            <a:r>
              <a:rPr sz="1600" dirty="0">
                <a:solidFill>
                  <a:srgbClr val="333333"/>
                </a:solidFill>
              </a:rPr>
              <a:t> 15 frames)
   + </a:t>
            </a:r>
            <a:r>
              <a:rPr sz="1600" dirty="0" err="1">
                <a:solidFill>
                  <a:srgbClr val="333333"/>
                </a:solidFill>
              </a:rPr>
              <a:t>máquina</a:t>
            </a:r>
            <a:r>
              <a:rPr sz="1600" dirty="0">
                <a:solidFill>
                  <a:srgbClr val="333333"/>
                </a:solidFill>
              </a:rPr>
              <a:t> de </a:t>
            </a:r>
            <a:r>
              <a:rPr sz="1600" dirty="0" err="1">
                <a:solidFill>
                  <a:srgbClr val="333333"/>
                </a:solidFill>
              </a:rPr>
              <a:t>estados</a:t>
            </a:r>
            <a:r>
              <a:rPr sz="1600" dirty="0">
                <a:solidFill>
                  <a:srgbClr val="333333"/>
                </a:solidFill>
              </a:rPr>
              <a:t> para </a:t>
            </a:r>
            <a:r>
              <a:rPr sz="1600" dirty="0" err="1">
                <a:solidFill>
                  <a:srgbClr val="333333"/>
                </a:solidFill>
              </a:rPr>
              <a:t>contagem</a:t>
            </a:r>
            <a:endParaRPr lang="pt-BR" sz="160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endParaRPr sz="160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1600" dirty="0">
                <a:solidFill>
                  <a:srgbClr val="333333"/>
                </a:solidFill>
              </a:rPr>
              <a:t>▸ Sem </a:t>
            </a:r>
            <a:r>
              <a:rPr sz="1600" dirty="0" err="1">
                <a:solidFill>
                  <a:srgbClr val="333333"/>
                </a:solidFill>
              </a:rPr>
              <a:t>sensores</a:t>
            </a:r>
            <a:r>
              <a:rPr sz="1600" dirty="0">
                <a:solidFill>
                  <a:srgbClr val="333333"/>
                </a:solidFill>
              </a:rPr>
              <a:t>  ·  Sem </a:t>
            </a:r>
            <a:r>
              <a:rPr sz="1600" dirty="0" err="1">
                <a:solidFill>
                  <a:srgbClr val="333333"/>
                </a:solidFill>
              </a:rPr>
              <a:t>calibração</a:t>
            </a:r>
            <a:endParaRPr sz="1600" dirty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Conclusão 1 — A abordagem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BFD7FF"/>
                </a:solidFill>
              </a:rPr>
              <a:t>Ângulos</a:t>
            </a:r>
            <a:r>
              <a:rPr sz="1600" b="0" i="0" dirty="0">
                <a:solidFill>
                  <a:srgbClr val="BFD7FF"/>
                </a:solidFill>
              </a:rPr>
              <a:t> </a:t>
            </a:r>
            <a:r>
              <a:rPr sz="1600" b="0" i="0" dirty="0" err="1">
                <a:solidFill>
                  <a:srgbClr val="BFD7FF"/>
                </a:solidFill>
              </a:rPr>
              <a:t>articulares</a:t>
            </a:r>
            <a:r>
              <a:rPr sz="1600" b="0" i="0" dirty="0">
                <a:solidFill>
                  <a:srgbClr val="BFD7FF"/>
                </a:solidFill>
              </a:rPr>
              <a:t> </a:t>
            </a:r>
            <a:r>
              <a:rPr sz="1600" b="0" i="0" dirty="0" err="1">
                <a:solidFill>
                  <a:srgbClr val="BFD7FF"/>
                </a:solidFill>
              </a:rPr>
              <a:t>como</a:t>
            </a:r>
            <a:r>
              <a:rPr sz="1600" b="0" i="0" dirty="0">
                <a:solidFill>
                  <a:srgbClr val="BFD7FF"/>
                </a:solidFill>
              </a:rPr>
              <a:t> </a:t>
            </a:r>
            <a:r>
              <a:rPr sz="1600" b="0" i="0" dirty="0" err="1">
                <a:solidFill>
                  <a:srgbClr val="BFD7FF"/>
                </a:solidFill>
              </a:rPr>
              <a:t>representação</a:t>
            </a:r>
            <a:r>
              <a:rPr sz="1600" b="0" i="0" dirty="0">
                <a:solidFill>
                  <a:srgbClr val="BFD7FF"/>
                </a:solidFill>
              </a:rPr>
              <a:t> do </a:t>
            </a:r>
            <a:r>
              <a:rPr sz="1600" b="0" i="0" dirty="0" err="1">
                <a:solidFill>
                  <a:srgbClr val="BFD7FF"/>
                </a:solidFill>
              </a:rPr>
              <a:t>movimento</a:t>
            </a:r>
            <a:r>
              <a:rPr sz="1600" b="0" i="0" dirty="0">
                <a:solidFill>
                  <a:srgbClr val="BFD7FF"/>
                </a:solidFill>
              </a:rPr>
              <a:t> </a:t>
            </a:r>
            <a:r>
              <a:rPr sz="1600" b="0" i="0" dirty="0" err="1">
                <a:solidFill>
                  <a:srgbClr val="BFD7FF"/>
                </a:solidFill>
              </a:rPr>
              <a:t>humano</a:t>
            </a:r>
            <a:endParaRPr sz="1600" b="0" i="0" dirty="0">
              <a:solidFill>
                <a:srgbClr val="BFD7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583680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FD7FF"/>
                </a:solidFill>
              </a:rPr>
              <a:t>RACE — Reconhecimento e Avaliação Computacional de Exercícios | UNISO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1640312" cy="640080"/>
          </a:xfrm>
          <a:prstGeom prst="rect">
            <a:avLst/>
          </a:prstGeom>
          <a:solidFill>
            <a:srgbClr val="D4EDD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16152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 err="1">
                <a:solidFill>
                  <a:srgbClr val="1A5C34"/>
                </a:solidFill>
              </a:rPr>
              <a:t>Os</a:t>
            </a:r>
            <a:r>
              <a:rPr sz="1600" b="1" i="0" dirty="0">
                <a:solidFill>
                  <a:srgbClr val="1A5C34"/>
                </a:solidFill>
              </a:rPr>
              <a:t> </a:t>
            </a:r>
            <a:r>
              <a:rPr sz="1600" b="1" i="0" dirty="0" err="1">
                <a:solidFill>
                  <a:srgbClr val="1A5C34"/>
                </a:solidFill>
              </a:rPr>
              <a:t>perfis</a:t>
            </a:r>
            <a:r>
              <a:rPr sz="1600" b="1" i="0" dirty="0">
                <a:solidFill>
                  <a:srgbClr val="1A5C34"/>
                </a:solidFill>
              </a:rPr>
              <a:t> </a:t>
            </a:r>
            <a:r>
              <a:rPr sz="1600" b="1" i="0" dirty="0" err="1">
                <a:solidFill>
                  <a:srgbClr val="1A5C34"/>
                </a:solidFill>
              </a:rPr>
              <a:t>angulares</a:t>
            </a:r>
            <a:r>
              <a:rPr sz="1600" b="1" i="0" dirty="0">
                <a:solidFill>
                  <a:srgbClr val="1A5C34"/>
                </a:solidFill>
              </a:rPr>
              <a:t> </a:t>
            </a:r>
            <a:r>
              <a:rPr sz="1600" b="1" i="0" dirty="0" err="1">
                <a:solidFill>
                  <a:srgbClr val="1A5C34"/>
                </a:solidFill>
              </a:rPr>
              <a:t>extraídos</a:t>
            </a:r>
            <a:r>
              <a:rPr sz="1600" b="1" i="0" dirty="0">
                <a:solidFill>
                  <a:srgbClr val="1A5C34"/>
                </a:solidFill>
              </a:rPr>
              <a:t> </a:t>
            </a:r>
            <a:r>
              <a:rPr sz="1600" b="1" i="0" dirty="0" err="1">
                <a:solidFill>
                  <a:srgbClr val="1A5C34"/>
                </a:solidFill>
              </a:rPr>
              <a:t>pelo</a:t>
            </a:r>
            <a:r>
              <a:rPr sz="1600" b="1" i="0" dirty="0">
                <a:solidFill>
                  <a:srgbClr val="1A5C34"/>
                </a:solidFill>
              </a:rPr>
              <a:t> </a:t>
            </a:r>
            <a:r>
              <a:rPr sz="1600" b="1" i="0" dirty="0" err="1">
                <a:solidFill>
                  <a:srgbClr val="1A5C34"/>
                </a:solidFill>
              </a:rPr>
              <a:t>MediaPipe</a:t>
            </a:r>
            <a:r>
              <a:rPr sz="1600" b="1" i="0" dirty="0">
                <a:solidFill>
                  <a:srgbClr val="1A5C34"/>
                </a:solidFill>
              </a:rPr>
              <a:t> </a:t>
            </a:r>
            <a:r>
              <a:rPr sz="1600" b="1" i="0" dirty="0" err="1">
                <a:solidFill>
                  <a:srgbClr val="1A5C34"/>
                </a:solidFill>
              </a:rPr>
              <a:t>apresentam</a:t>
            </a:r>
            <a:r>
              <a:rPr sz="1600" b="1" i="0" dirty="0">
                <a:solidFill>
                  <a:srgbClr val="1A5C34"/>
                </a:solidFill>
              </a:rPr>
              <a:t> </a:t>
            </a:r>
            <a:r>
              <a:rPr sz="1600" b="1" i="0" dirty="0" err="1">
                <a:solidFill>
                  <a:srgbClr val="1A5C34"/>
                </a:solidFill>
              </a:rPr>
              <a:t>assinaturas</a:t>
            </a:r>
            <a:r>
              <a:rPr sz="1600" b="1" i="0" dirty="0">
                <a:solidFill>
                  <a:srgbClr val="1A5C34"/>
                </a:solidFill>
              </a:rPr>
              <a:t> </a:t>
            </a:r>
            <a:r>
              <a:rPr sz="1600" b="1" i="0" dirty="0" err="1">
                <a:solidFill>
                  <a:srgbClr val="1A5C34"/>
                </a:solidFill>
              </a:rPr>
              <a:t>biomecânicas</a:t>
            </a:r>
            <a:r>
              <a:rPr sz="1600" b="1" i="0" dirty="0">
                <a:solidFill>
                  <a:srgbClr val="1A5C34"/>
                </a:solidFill>
              </a:rPr>
              <a:t> </a:t>
            </a:r>
            <a:r>
              <a:rPr sz="1600" b="1" i="0" dirty="0" err="1">
                <a:solidFill>
                  <a:srgbClr val="1A5C34"/>
                </a:solidFill>
              </a:rPr>
              <a:t>distintas</a:t>
            </a:r>
            <a:r>
              <a:rPr sz="1600" b="1" i="0" dirty="0">
                <a:solidFill>
                  <a:srgbClr val="1A5C34"/>
                </a:solidFill>
              </a:rPr>
              <a:t> e </a:t>
            </a:r>
            <a:r>
              <a:rPr sz="1600" b="1" i="0" dirty="0" err="1">
                <a:solidFill>
                  <a:srgbClr val="1A5C34"/>
                </a:solidFill>
              </a:rPr>
              <a:t>reprodutíveis</a:t>
            </a:r>
            <a:r>
              <a:rPr sz="1600" b="1" i="0" dirty="0">
                <a:solidFill>
                  <a:srgbClr val="1A5C34"/>
                </a:solidFill>
              </a:rPr>
              <a:t> para </a:t>
            </a:r>
            <a:r>
              <a:rPr sz="1600" b="1" i="0" dirty="0" err="1">
                <a:solidFill>
                  <a:srgbClr val="1A5C34"/>
                </a:solidFill>
              </a:rPr>
              <a:t>cada</a:t>
            </a:r>
            <a:r>
              <a:rPr sz="1600" b="1" i="0" dirty="0">
                <a:solidFill>
                  <a:srgbClr val="1A5C34"/>
                </a:solidFill>
              </a:rPr>
              <a:t> </a:t>
            </a:r>
            <a:r>
              <a:rPr sz="1600" b="1" i="0" dirty="0" err="1">
                <a:solidFill>
                  <a:srgbClr val="1A5C34"/>
                </a:solidFill>
              </a:rPr>
              <a:t>exercício</a:t>
            </a:r>
            <a:r>
              <a:rPr sz="1600" b="1" i="0" dirty="0">
                <a:solidFill>
                  <a:srgbClr val="1A5C34"/>
                </a:solidFill>
              </a:rPr>
              <a:t>, </a:t>
            </a:r>
            <a:r>
              <a:rPr sz="1600" b="1" i="0" dirty="0" err="1">
                <a:solidFill>
                  <a:srgbClr val="1A5C34"/>
                </a:solidFill>
              </a:rPr>
              <a:t>mesmo</a:t>
            </a:r>
            <a:r>
              <a:rPr sz="1600" b="1" i="0" dirty="0">
                <a:solidFill>
                  <a:srgbClr val="1A5C34"/>
                </a:solidFill>
              </a:rPr>
              <a:t> com </a:t>
            </a:r>
            <a:r>
              <a:rPr sz="1600" b="1" i="0" dirty="0" err="1">
                <a:solidFill>
                  <a:srgbClr val="1A5C34"/>
                </a:solidFill>
              </a:rPr>
              <a:t>variações</a:t>
            </a:r>
            <a:r>
              <a:rPr sz="1600" b="1" i="0" dirty="0">
                <a:solidFill>
                  <a:srgbClr val="1A5C34"/>
                </a:solidFill>
              </a:rPr>
              <a:t> de </a:t>
            </a:r>
            <a:r>
              <a:rPr sz="1600" b="1" i="0" dirty="0" err="1">
                <a:solidFill>
                  <a:srgbClr val="1A5C34"/>
                </a:solidFill>
              </a:rPr>
              <a:t>câmera</a:t>
            </a:r>
            <a:r>
              <a:rPr sz="1600" b="1" i="0" dirty="0">
                <a:solidFill>
                  <a:srgbClr val="1A5C34"/>
                </a:solidFill>
              </a:rPr>
              <a:t>, </a:t>
            </a:r>
            <a:r>
              <a:rPr sz="1600" b="1" i="0" dirty="0" err="1">
                <a:solidFill>
                  <a:srgbClr val="1A5C34"/>
                </a:solidFill>
              </a:rPr>
              <a:t>iluminação</a:t>
            </a:r>
            <a:r>
              <a:rPr sz="1600" b="1" i="0" dirty="0">
                <a:solidFill>
                  <a:srgbClr val="1A5C34"/>
                </a:solidFill>
              </a:rPr>
              <a:t> e </a:t>
            </a:r>
            <a:r>
              <a:rPr sz="1600" b="1" i="0" dirty="0" err="1">
                <a:solidFill>
                  <a:srgbClr val="1A5C34"/>
                </a:solidFill>
              </a:rPr>
              <a:t>sujeito</a:t>
            </a:r>
            <a:r>
              <a:rPr sz="1600" b="1" i="0" dirty="0">
                <a:solidFill>
                  <a:srgbClr val="1A5C34"/>
                </a:solidFill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625" y="1984248"/>
            <a:ext cx="3749039" cy="3474720"/>
          </a:xfrm>
          <a:prstGeom prst="rect">
            <a:avLst/>
          </a:prstGeom>
          <a:solidFill>
            <a:srgbClr val="F0F7FF"/>
          </a:solidFill>
          <a:ln w="19050">
            <a:solidFill>
              <a:srgbClr val="24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ctangle 9"/>
          <p:cNvSpPr/>
          <p:nvPr/>
        </p:nvSpPr>
        <p:spPr>
          <a:xfrm>
            <a:off x="274320" y="1965960"/>
            <a:ext cx="3749039" cy="4572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98424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Agachamento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3429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b="0" i="0" dirty="0">
                <a:solidFill>
                  <a:srgbClr val="333333"/>
                </a:solidFill>
              </a:rPr>
              <a:t>Joelho: 50°–160°</a:t>
            </a:r>
          </a:p>
          <a:p>
            <a:pPr algn="l"/>
            <a:endParaRPr lang="pt-BR" sz="2000" b="0" i="0" dirty="0">
              <a:solidFill>
                <a:srgbClr val="333333"/>
              </a:solidFill>
            </a:endParaRPr>
          </a:p>
          <a:p>
            <a:pPr algn="l"/>
            <a:r>
              <a:rPr lang="pt-BR" sz="2000" b="0" i="0" dirty="0">
                <a:solidFill>
                  <a:srgbClr val="333333"/>
                </a:solidFill>
              </a:rPr>
              <a:t>Quadril: 25°–175°</a:t>
            </a:r>
          </a:p>
          <a:p>
            <a:pPr algn="l"/>
            <a:endParaRPr lang="pt-BR" sz="2000" b="0" i="0" dirty="0">
              <a:solidFill>
                <a:srgbClr val="333333"/>
              </a:solidFill>
            </a:endParaRPr>
          </a:p>
          <a:p>
            <a:pPr algn="l"/>
            <a:r>
              <a:rPr lang="pt-BR" sz="2000" b="0" i="0" dirty="0">
                <a:solidFill>
                  <a:srgbClr val="333333"/>
                </a:solidFill>
              </a:rPr>
              <a:t>Grande amplitude articular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965960"/>
            <a:ext cx="3749039" cy="3474720"/>
          </a:xfrm>
          <a:prstGeom prst="rect">
            <a:avLst/>
          </a:prstGeom>
          <a:solidFill>
            <a:srgbClr val="F0F7FF"/>
          </a:solidFill>
          <a:ln w="19050">
            <a:solidFill>
              <a:srgbClr val="24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51959" y="1965960"/>
            <a:ext cx="3749039" cy="4572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43399" y="198424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Flexão de braço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514600"/>
            <a:ext cx="3429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b="0" i="0" dirty="0">
                <a:solidFill>
                  <a:srgbClr val="333333"/>
                </a:solidFill>
              </a:rPr>
              <a:t>Cotovelo bimodal</a:t>
            </a:r>
          </a:p>
          <a:p>
            <a:pPr algn="l"/>
            <a:endParaRPr lang="pt-BR" sz="2000" b="0" i="0" dirty="0">
              <a:solidFill>
                <a:srgbClr val="333333"/>
              </a:solidFill>
            </a:endParaRPr>
          </a:p>
          <a:p>
            <a:pPr algn="l"/>
            <a:r>
              <a:rPr lang="pt-BR" sz="2000" b="0" i="0" dirty="0">
                <a:solidFill>
                  <a:srgbClr val="333333"/>
                </a:solidFill>
              </a:rPr>
              <a:t>Ombro/quadril estáveis</a:t>
            </a:r>
          </a:p>
          <a:p>
            <a:pPr algn="l"/>
            <a:endParaRPr lang="pt-BR" sz="2000" b="0" i="0" dirty="0">
              <a:solidFill>
                <a:srgbClr val="333333"/>
              </a:solidFill>
            </a:endParaRPr>
          </a:p>
          <a:p>
            <a:pPr algn="l"/>
            <a:r>
              <a:rPr lang="pt-BR" sz="2000" b="0" i="0" dirty="0">
                <a:solidFill>
                  <a:srgbClr val="333333"/>
                </a:solidFill>
              </a:rPr>
              <a:t>Padrão horizontal consistente</a:t>
            </a:r>
            <a:endParaRPr sz="2000" b="0" i="0" dirty="0">
              <a:solidFill>
                <a:srgbClr val="333333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229600" y="1965960"/>
            <a:ext cx="3749039" cy="3474720"/>
          </a:xfrm>
          <a:prstGeom prst="rect">
            <a:avLst/>
          </a:prstGeom>
          <a:solidFill>
            <a:srgbClr val="F0F7FF"/>
          </a:solidFill>
          <a:ln w="19050">
            <a:solidFill>
              <a:srgbClr val="24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1965960"/>
            <a:ext cx="3749039" cy="4572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198424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Rosca bíceps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514600"/>
            <a:ext cx="3429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b="0" i="0" dirty="0">
                <a:solidFill>
                  <a:srgbClr val="333333"/>
                </a:solidFill>
              </a:rPr>
              <a:t>Cotovelo: 80°–170°</a:t>
            </a:r>
          </a:p>
          <a:p>
            <a:pPr algn="l"/>
            <a:endParaRPr lang="pt-BR" sz="2000" b="0" i="0" dirty="0">
              <a:solidFill>
                <a:srgbClr val="333333"/>
              </a:solidFill>
            </a:endParaRPr>
          </a:p>
          <a:p>
            <a:pPr algn="l"/>
            <a:r>
              <a:rPr lang="pt-BR" sz="2000" b="0" i="0" dirty="0">
                <a:solidFill>
                  <a:srgbClr val="333333"/>
                </a:solidFill>
              </a:rPr>
              <a:t>Forte variação angular</a:t>
            </a:r>
          </a:p>
          <a:p>
            <a:pPr algn="l"/>
            <a:endParaRPr lang="pt-BR" sz="2000" b="0" i="0" dirty="0">
              <a:solidFill>
                <a:srgbClr val="333333"/>
              </a:solidFill>
            </a:endParaRPr>
          </a:p>
          <a:p>
            <a:pPr algn="l"/>
            <a:r>
              <a:rPr lang="pt-BR" sz="2000" dirty="0"/>
              <a:t>Indícios de fadiga muscular</a:t>
            </a:r>
            <a:endParaRPr sz="2000" b="0" i="0" dirty="0">
              <a:solidFill>
                <a:srgbClr val="333333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74320" y="6309360"/>
            <a:ext cx="116403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 dirty="0">
                <a:solidFill>
                  <a:srgbClr val="245C9E"/>
                </a:solidFill>
              </a:rPr>
              <a:t>O </a:t>
            </a:r>
            <a:r>
              <a:rPr sz="1400" b="0" i="1" dirty="0" err="1">
                <a:solidFill>
                  <a:srgbClr val="245C9E"/>
                </a:solidFill>
              </a:rPr>
              <a:t>sinal</a:t>
            </a:r>
            <a:r>
              <a:rPr sz="1400" b="0" i="1" dirty="0">
                <a:solidFill>
                  <a:srgbClr val="245C9E"/>
                </a:solidFill>
              </a:rPr>
              <a:t> bilateral </a:t>
            </a:r>
            <a:r>
              <a:rPr sz="1400" b="0" i="1" dirty="0" err="1">
                <a:solidFill>
                  <a:srgbClr val="245C9E"/>
                </a:solidFill>
              </a:rPr>
              <a:t>ponderado</a:t>
            </a:r>
            <a:r>
              <a:rPr sz="1400" b="0" i="1" dirty="0">
                <a:solidFill>
                  <a:srgbClr val="245C9E"/>
                </a:solidFill>
              </a:rPr>
              <a:t> </a:t>
            </a:r>
            <a:r>
              <a:rPr sz="1400" b="0" i="1" dirty="0" err="1">
                <a:solidFill>
                  <a:srgbClr val="245C9E"/>
                </a:solidFill>
              </a:rPr>
              <a:t>por</a:t>
            </a:r>
            <a:r>
              <a:rPr sz="1400" b="0" i="1" dirty="0">
                <a:solidFill>
                  <a:srgbClr val="245C9E"/>
                </a:solidFill>
              </a:rPr>
              <a:t> </a:t>
            </a:r>
            <a:r>
              <a:rPr sz="1400" b="0" i="1" dirty="0" err="1">
                <a:solidFill>
                  <a:srgbClr val="245C9E"/>
                </a:solidFill>
              </a:rPr>
              <a:t>visibilidade</a:t>
            </a:r>
            <a:r>
              <a:rPr sz="1400" b="0" i="1" dirty="0">
                <a:solidFill>
                  <a:srgbClr val="245C9E"/>
                </a:solidFill>
              </a:rPr>
              <a:t> </a:t>
            </a:r>
            <a:r>
              <a:rPr sz="1400" b="0" i="1" dirty="0" err="1">
                <a:solidFill>
                  <a:srgbClr val="245C9E"/>
                </a:solidFill>
              </a:rPr>
              <a:t>reduz</a:t>
            </a:r>
            <a:r>
              <a:rPr sz="1400" b="0" i="1" dirty="0">
                <a:solidFill>
                  <a:srgbClr val="245C9E"/>
                </a:solidFill>
              </a:rPr>
              <a:t> o </a:t>
            </a:r>
            <a:r>
              <a:rPr sz="1400" b="0" i="1" dirty="0" err="1">
                <a:solidFill>
                  <a:srgbClr val="245C9E"/>
                </a:solidFill>
              </a:rPr>
              <a:t>impacto</a:t>
            </a:r>
            <a:r>
              <a:rPr sz="1400" b="0" i="1" dirty="0">
                <a:solidFill>
                  <a:srgbClr val="245C9E"/>
                </a:solidFill>
              </a:rPr>
              <a:t> de </a:t>
            </a:r>
            <a:r>
              <a:rPr sz="1400" b="0" i="1" dirty="0" err="1">
                <a:solidFill>
                  <a:srgbClr val="245C9E"/>
                </a:solidFill>
              </a:rPr>
              <a:t>oclusões</a:t>
            </a:r>
            <a:r>
              <a:rPr sz="1400" b="0" i="1" dirty="0">
                <a:solidFill>
                  <a:srgbClr val="245C9E"/>
                </a:solidFill>
              </a:rPr>
              <a:t> e </a:t>
            </a:r>
            <a:r>
              <a:rPr sz="1400" b="0" i="1" dirty="0" err="1">
                <a:solidFill>
                  <a:srgbClr val="245C9E"/>
                </a:solidFill>
              </a:rPr>
              <a:t>variações</a:t>
            </a:r>
            <a:r>
              <a:rPr sz="1400" b="0" i="1" dirty="0">
                <a:solidFill>
                  <a:srgbClr val="245C9E"/>
                </a:solidFill>
              </a:rPr>
              <a:t> de </a:t>
            </a:r>
            <a:r>
              <a:rPr sz="1400" b="0" i="1" dirty="0" err="1">
                <a:solidFill>
                  <a:srgbClr val="245C9E"/>
                </a:solidFill>
              </a:rPr>
              <a:t>orientação</a:t>
            </a:r>
            <a:r>
              <a:rPr sz="1400" b="0" i="1" dirty="0">
                <a:solidFill>
                  <a:srgbClr val="245C9E"/>
                </a:solidFill>
              </a:rPr>
              <a:t> da </a:t>
            </a:r>
            <a:r>
              <a:rPr sz="1400" b="0" i="1" dirty="0" err="1">
                <a:solidFill>
                  <a:srgbClr val="245C9E"/>
                </a:solidFill>
              </a:rPr>
              <a:t>câmera</a:t>
            </a:r>
            <a:r>
              <a:rPr sz="1400" b="0" i="1" dirty="0">
                <a:solidFill>
                  <a:srgbClr val="245C9E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Conclusão 2 — O modelo generaliza para novos sujeitos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FD7FF"/>
                </a:solidFill>
              </a:rPr>
              <a:t>Random Forest treinado no Sujeito 1, avaliado nos Sujeitos 2 e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583680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FD7FF"/>
                </a:solidFill>
              </a:rPr>
              <a:t>RACE — Reconhecimento e Avaliação Computacional de Exercícios | UNISO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1640312" cy="640080"/>
          </a:xfrm>
          <a:prstGeom prst="rect">
            <a:avLst/>
          </a:prstGeom>
          <a:solidFill>
            <a:srgbClr val="D4EDD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16152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A5C34"/>
                </a:solidFill>
              </a:rPr>
              <a:t>O RF </a:t>
            </a:r>
            <a:r>
              <a:rPr sz="1600" b="1" i="0" dirty="0" err="1">
                <a:solidFill>
                  <a:srgbClr val="1A5C34"/>
                </a:solidFill>
              </a:rPr>
              <a:t>atingiu</a:t>
            </a:r>
            <a:r>
              <a:rPr sz="1600" b="1" i="0" dirty="0">
                <a:solidFill>
                  <a:srgbClr val="1A5C34"/>
                </a:solidFill>
              </a:rPr>
              <a:t> 95,</a:t>
            </a:r>
            <a:r>
              <a:rPr lang="pt-BR" sz="1600" b="1" i="0" dirty="0">
                <a:solidFill>
                  <a:srgbClr val="1A5C34"/>
                </a:solidFill>
              </a:rPr>
              <a:t>5</a:t>
            </a:r>
            <a:r>
              <a:rPr sz="1600" b="1" i="0" dirty="0">
                <a:solidFill>
                  <a:srgbClr val="1A5C34"/>
                </a:solidFill>
              </a:rPr>
              <a:t>% de </a:t>
            </a:r>
            <a:r>
              <a:rPr lang="pt-BR" sz="1600" b="1" i="0" dirty="0">
                <a:solidFill>
                  <a:srgbClr val="1A5C34"/>
                </a:solidFill>
              </a:rPr>
              <a:t>acurácia média </a:t>
            </a:r>
            <a:r>
              <a:rPr sz="1600" b="1" i="0" dirty="0" err="1">
                <a:solidFill>
                  <a:srgbClr val="1A5C34"/>
                </a:solidFill>
              </a:rPr>
              <a:t>nos</a:t>
            </a:r>
            <a:r>
              <a:rPr sz="1600" b="1" i="0" dirty="0">
                <a:solidFill>
                  <a:srgbClr val="1A5C34"/>
                </a:solidFill>
              </a:rPr>
              <a:t> </a:t>
            </a:r>
            <a:r>
              <a:rPr sz="1600" b="1" i="0" dirty="0" err="1">
                <a:solidFill>
                  <a:srgbClr val="1A5C34"/>
                </a:solidFill>
              </a:rPr>
              <a:t>exercícios</a:t>
            </a:r>
            <a:r>
              <a:rPr sz="1600" b="1" i="0" dirty="0">
                <a:solidFill>
                  <a:srgbClr val="1A5C34"/>
                </a:solidFill>
              </a:rPr>
              <a:t> </a:t>
            </a:r>
            <a:r>
              <a:rPr sz="1600" b="1" i="0" dirty="0" err="1">
                <a:solidFill>
                  <a:srgbClr val="1A5C34"/>
                </a:solidFill>
              </a:rPr>
              <a:t>ativos</a:t>
            </a:r>
            <a:r>
              <a:rPr sz="1600" b="1" i="0" dirty="0">
                <a:solidFill>
                  <a:srgbClr val="1A5C34"/>
                </a:solidFill>
              </a:rPr>
              <a:t> </a:t>
            </a:r>
            <a:r>
              <a:rPr sz="1600" b="1" i="0" dirty="0" err="1">
                <a:solidFill>
                  <a:srgbClr val="1A5C34"/>
                </a:solidFill>
              </a:rPr>
              <a:t>em</a:t>
            </a:r>
            <a:r>
              <a:rPr sz="1600" b="1" i="0" dirty="0">
                <a:solidFill>
                  <a:srgbClr val="1A5C34"/>
                </a:solidFill>
              </a:rPr>
              <a:t> </a:t>
            </a:r>
            <a:r>
              <a:rPr sz="1600" b="1" i="0" dirty="0" err="1">
                <a:solidFill>
                  <a:srgbClr val="1A5C34"/>
                </a:solidFill>
              </a:rPr>
              <a:t>sujeitos</a:t>
            </a:r>
            <a:r>
              <a:rPr sz="1600" b="1" i="0" dirty="0">
                <a:solidFill>
                  <a:srgbClr val="1A5C34"/>
                </a:solidFill>
              </a:rPr>
              <a:t> </a:t>
            </a:r>
            <a:r>
              <a:rPr sz="1600" b="1" i="0" dirty="0" err="1">
                <a:solidFill>
                  <a:srgbClr val="1A5C34"/>
                </a:solidFill>
              </a:rPr>
              <a:t>nunca</a:t>
            </a:r>
            <a:r>
              <a:rPr sz="1600" b="1" i="0" dirty="0">
                <a:solidFill>
                  <a:srgbClr val="1A5C34"/>
                </a:solidFill>
              </a:rPr>
              <a:t> vistos </a:t>
            </a:r>
            <a:r>
              <a:rPr sz="1600" b="1" i="0" dirty="0" err="1">
                <a:solidFill>
                  <a:srgbClr val="1A5C34"/>
                </a:solidFill>
              </a:rPr>
              <a:t>durante</a:t>
            </a:r>
            <a:r>
              <a:rPr sz="1600" b="1" i="0" dirty="0">
                <a:solidFill>
                  <a:srgbClr val="1A5C34"/>
                </a:solidFill>
              </a:rPr>
              <a:t> o </a:t>
            </a:r>
            <a:r>
              <a:rPr sz="1600" b="1" i="0" dirty="0" err="1">
                <a:solidFill>
                  <a:srgbClr val="1A5C34"/>
                </a:solidFill>
              </a:rPr>
              <a:t>treinamento</a:t>
            </a:r>
            <a:r>
              <a:rPr sz="1600" b="1" i="0" dirty="0">
                <a:solidFill>
                  <a:srgbClr val="1A5C34"/>
                </a:solidFill>
              </a:rPr>
              <a:t> — </a:t>
            </a:r>
            <a:r>
              <a:rPr sz="1600" b="1" i="0" dirty="0" err="1">
                <a:solidFill>
                  <a:srgbClr val="1A5C34"/>
                </a:solidFill>
              </a:rPr>
              <a:t>superando</a:t>
            </a:r>
            <a:r>
              <a:rPr sz="1600" b="1" i="0" dirty="0">
                <a:solidFill>
                  <a:srgbClr val="1A5C34"/>
                </a:solidFill>
              </a:rPr>
              <a:t> o baseline </a:t>
            </a:r>
            <a:r>
              <a:rPr sz="1600" b="1" i="0" dirty="0" err="1">
                <a:solidFill>
                  <a:srgbClr val="1A5C34"/>
                </a:solidFill>
              </a:rPr>
              <a:t>heurístico</a:t>
            </a:r>
            <a:r>
              <a:rPr sz="1600" b="1" i="0" dirty="0">
                <a:solidFill>
                  <a:srgbClr val="1A5C34"/>
                </a:solidFill>
              </a:rPr>
              <a:t> </a:t>
            </a:r>
            <a:r>
              <a:rPr sz="1600" b="1" i="0" dirty="0" err="1">
                <a:solidFill>
                  <a:srgbClr val="1A5C34"/>
                </a:solidFill>
              </a:rPr>
              <a:t>em</a:t>
            </a:r>
            <a:r>
              <a:rPr sz="1600" b="1" i="0" dirty="0">
                <a:solidFill>
                  <a:srgbClr val="1A5C34"/>
                </a:solidFill>
              </a:rPr>
              <a:t> 5 </a:t>
            </a:r>
            <a:r>
              <a:rPr sz="1600" b="1" i="0" dirty="0" err="1">
                <a:solidFill>
                  <a:srgbClr val="1A5C34"/>
                </a:solidFill>
              </a:rPr>
              <a:t>pontos</a:t>
            </a:r>
            <a:r>
              <a:rPr sz="1600" b="1" i="0" dirty="0">
                <a:solidFill>
                  <a:srgbClr val="1A5C34"/>
                </a:solidFill>
              </a:rPr>
              <a:t> </a:t>
            </a:r>
            <a:r>
              <a:rPr sz="1600" b="1" i="0" dirty="0" err="1">
                <a:solidFill>
                  <a:srgbClr val="1A5C34"/>
                </a:solidFill>
              </a:rPr>
              <a:t>percentuais</a:t>
            </a:r>
            <a:r>
              <a:rPr sz="1600" b="1" i="0" dirty="0">
                <a:solidFill>
                  <a:srgbClr val="1A5C34"/>
                </a:solidFill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65960"/>
            <a:ext cx="2834640" cy="1143000"/>
          </a:xfrm>
          <a:prstGeom prst="rect">
            <a:avLst/>
          </a:prstGeom>
          <a:solidFill>
            <a:srgbClr val="D6E4F7"/>
          </a:solidFill>
          <a:ln w="19050">
            <a:solidFill>
              <a:srgbClr val="24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2011679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 dirty="0">
                <a:solidFill>
                  <a:srgbClr val="245C9E"/>
                </a:solidFill>
              </a:rPr>
              <a:t>90,</a:t>
            </a:r>
            <a:r>
              <a:rPr lang="pt-BR" sz="3000" b="1" dirty="0">
                <a:solidFill>
                  <a:srgbClr val="245C9E"/>
                </a:solidFill>
              </a:rPr>
              <a:t>5</a:t>
            </a:r>
            <a:r>
              <a:rPr sz="3000" b="1" i="0" dirty="0">
                <a:solidFill>
                  <a:srgbClr val="245C9E"/>
                </a:solidFill>
              </a:rPr>
              <a:t>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560320"/>
            <a:ext cx="2834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b="0" i="0" dirty="0">
                <a:solidFill>
                  <a:srgbClr val="333333"/>
                </a:solidFill>
              </a:rPr>
              <a:t>Acurácia</a:t>
            </a:r>
            <a:r>
              <a:rPr sz="1600" b="0" i="0" dirty="0">
                <a:solidFill>
                  <a:srgbClr val="333333"/>
                </a:solidFill>
              </a:rPr>
              <a:t> </a:t>
            </a:r>
            <a:r>
              <a:rPr sz="1600" b="0" i="0" dirty="0" err="1">
                <a:solidFill>
                  <a:srgbClr val="333333"/>
                </a:solidFill>
              </a:rPr>
              <a:t>médi</a:t>
            </a:r>
            <a:r>
              <a:rPr lang="pt-BR" sz="1600" b="0" i="0" dirty="0">
                <a:solidFill>
                  <a:srgbClr val="333333"/>
                </a:solidFill>
              </a:rPr>
              <a:t>a</a:t>
            </a:r>
            <a:r>
              <a:rPr sz="1600" b="0" i="0" dirty="0">
                <a:solidFill>
                  <a:srgbClr val="333333"/>
                </a:solidFill>
              </a:rPr>
              <a:t>
</a:t>
            </a:r>
            <a:r>
              <a:rPr sz="1600" b="0" i="0" dirty="0" err="1">
                <a:solidFill>
                  <a:srgbClr val="333333"/>
                </a:solidFill>
              </a:rPr>
              <a:t>exercícios</a:t>
            </a:r>
            <a:r>
              <a:rPr sz="1600" b="0" i="0" dirty="0">
                <a:solidFill>
                  <a:srgbClr val="333333"/>
                </a:solidFill>
              </a:rPr>
              <a:t> </a:t>
            </a:r>
            <a:r>
              <a:rPr sz="1600" b="0" i="0" dirty="0" err="1">
                <a:solidFill>
                  <a:srgbClr val="333333"/>
                </a:solidFill>
              </a:rPr>
              <a:t>ativos</a:t>
            </a:r>
            <a:r>
              <a:rPr sz="1600" b="0" i="0" dirty="0">
                <a:solidFill>
                  <a:srgbClr val="333333"/>
                </a:solidFill>
              </a:rPr>
              <a:t> — BL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331720"/>
            <a:ext cx="1280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1A7A4A"/>
                </a:solidFill>
              </a:rPr>
              <a:t>+5 pp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965960"/>
            <a:ext cx="2834640" cy="1143000"/>
          </a:xfrm>
          <a:prstGeom prst="rect">
            <a:avLst/>
          </a:prstGeom>
          <a:solidFill>
            <a:srgbClr val="D4EDDA"/>
          </a:solidFill>
          <a:ln w="19050">
            <a:solidFill>
              <a:srgbClr val="24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2011679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 dirty="0">
                <a:solidFill>
                  <a:srgbClr val="1A7A4A"/>
                </a:solidFill>
              </a:rPr>
              <a:t>95,</a:t>
            </a:r>
            <a:r>
              <a:rPr lang="pt-BR" sz="3000" b="1" i="0" dirty="0">
                <a:solidFill>
                  <a:srgbClr val="1A7A4A"/>
                </a:solidFill>
              </a:rPr>
              <a:t>5</a:t>
            </a:r>
            <a:r>
              <a:rPr sz="3000" b="1" i="0" dirty="0">
                <a:solidFill>
                  <a:srgbClr val="1A7A4A"/>
                </a:solidFill>
              </a:rPr>
              <a:t>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60320"/>
            <a:ext cx="2834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b="0" i="0" dirty="0">
                <a:solidFill>
                  <a:srgbClr val="333333"/>
                </a:solidFill>
              </a:rPr>
              <a:t>Acurácia</a:t>
            </a:r>
            <a:r>
              <a:rPr sz="1600" b="0" i="0" dirty="0">
                <a:solidFill>
                  <a:srgbClr val="333333"/>
                </a:solidFill>
              </a:rPr>
              <a:t> </a:t>
            </a:r>
            <a:r>
              <a:rPr sz="1600" b="0" i="0" dirty="0" err="1">
                <a:solidFill>
                  <a:srgbClr val="333333"/>
                </a:solidFill>
              </a:rPr>
              <a:t>médi</a:t>
            </a:r>
            <a:r>
              <a:rPr lang="pt-BR" sz="1600" b="0" i="0" dirty="0">
                <a:solidFill>
                  <a:srgbClr val="333333"/>
                </a:solidFill>
              </a:rPr>
              <a:t>a</a:t>
            </a:r>
            <a:r>
              <a:rPr sz="1600" b="0" i="0" dirty="0">
                <a:solidFill>
                  <a:srgbClr val="333333"/>
                </a:solidFill>
              </a:rPr>
              <a:t>
</a:t>
            </a:r>
            <a:r>
              <a:rPr sz="1600" b="0" i="0" dirty="0" err="1">
                <a:solidFill>
                  <a:srgbClr val="333333"/>
                </a:solidFill>
              </a:rPr>
              <a:t>exercícios</a:t>
            </a:r>
            <a:r>
              <a:rPr sz="1600" b="0" i="0" dirty="0">
                <a:solidFill>
                  <a:srgbClr val="333333"/>
                </a:solidFill>
              </a:rPr>
              <a:t> </a:t>
            </a:r>
            <a:r>
              <a:rPr sz="1600" b="0" i="0" dirty="0" err="1">
                <a:solidFill>
                  <a:srgbClr val="333333"/>
                </a:solidFill>
              </a:rPr>
              <a:t>ativos</a:t>
            </a:r>
            <a:r>
              <a:rPr sz="1600" b="0" i="0" dirty="0">
                <a:solidFill>
                  <a:srgbClr val="333333"/>
                </a:solidFill>
              </a:rPr>
              <a:t> — RF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46120"/>
            <a:ext cx="2377440" cy="347472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7" name="TextBox 16"/>
          <p:cNvSpPr txBox="1"/>
          <p:nvPr/>
        </p:nvSpPr>
        <p:spPr>
          <a:xfrm>
            <a:off x="411480" y="3264408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Exercício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3246120"/>
            <a:ext cx="1554480" cy="347472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9" name="TextBox 18"/>
          <p:cNvSpPr txBox="1"/>
          <p:nvPr/>
        </p:nvSpPr>
        <p:spPr>
          <a:xfrm>
            <a:off x="2788920" y="3264408"/>
            <a:ext cx="14630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BL Recall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246120"/>
            <a:ext cx="1554480" cy="347472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1" name="TextBox 20"/>
          <p:cNvSpPr txBox="1"/>
          <p:nvPr/>
        </p:nvSpPr>
        <p:spPr>
          <a:xfrm>
            <a:off x="4343400" y="3264408"/>
            <a:ext cx="14630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RF Recall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0" y="3246120"/>
            <a:ext cx="1645920" cy="347472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3" name="TextBox 22"/>
          <p:cNvSpPr txBox="1"/>
          <p:nvPr/>
        </p:nvSpPr>
        <p:spPr>
          <a:xfrm>
            <a:off x="5897880" y="3264408"/>
            <a:ext cx="155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BL Precisão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0" y="3246120"/>
            <a:ext cx="1645920" cy="347472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5" name="TextBox 24"/>
          <p:cNvSpPr txBox="1"/>
          <p:nvPr/>
        </p:nvSpPr>
        <p:spPr>
          <a:xfrm>
            <a:off x="7543800" y="3264408"/>
            <a:ext cx="155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RF Precisão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611880"/>
            <a:ext cx="2377440" cy="365760"/>
          </a:xfrm>
          <a:prstGeom prst="rect">
            <a:avLst/>
          </a:prstGeom>
          <a:solidFill>
            <a:srgbClr val="D6E4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7" name="TextBox 26"/>
          <p:cNvSpPr txBox="1"/>
          <p:nvPr/>
        </p:nvSpPr>
        <p:spPr>
          <a:xfrm>
            <a:off x="411480" y="365760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33333"/>
                </a:solidFill>
              </a:rPr>
              <a:t>Flexão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0" y="3611880"/>
            <a:ext cx="1554480" cy="365760"/>
          </a:xfrm>
          <a:prstGeom prst="rect">
            <a:avLst/>
          </a:prstGeom>
          <a:solidFill>
            <a:srgbClr val="D6E4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9" name="TextBox 28"/>
          <p:cNvSpPr txBox="1"/>
          <p:nvPr/>
        </p:nvSpPr>
        <p:spPr>
          <a:xfrm>
            <a:off x="2788920" y="3657600"/>
            <a:ext cx="14630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333333"/>
                </a:solidFill>
              </a:rPr>
              <a:t>0,87</a:t>
            </a:r>
            <a:r>
              <a:rPr lang="pt-BR" sz="1600" b="0" i="0" dirty="0">
                <a:solidFill>
                  <a:srgbClr val="333333"/>
                </a:solidFill>
              </a:rPr>
              <a:t>1</a:t>
            </a:r>
            <a:endParaRPr sz="1600" b="0" i="0" dirty="0">
              <a:solidFill>
                <a:srgbClr val="333333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297680" y="3611880"/>
            <a:ext cx="1554480" cy="365760"/>
          </a:xfrm>
          <a:prstGeom prst="rect">
            <a:avLst/>
          </a:prstGeom>
          <a:solidFill>
            <a:srgbClr val="D6E4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1" name="TextBox 30"/>
          <p:cNvSpPr txBox="1"/>
          <p:nvPr/>
        </p:nvSpPr>
        <p:spPr>
          <a:xfrm>
            <a:off x="4343400" y="3657600"/>
            <a:ext cx="14630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1A7A4A"/>
                </a:solidFill>
              </a:rPr>
              <a:t>0,920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52160" y="3611880"/>
            <a:ext cx="1645920" cy="365760"/>
          </a:xfrm>
          <a:prstGeom prst="rect">
            <a:avLst/>
          </a:prstGeom>
          <a:solidFill>
            <a:srgbClr val="D6E4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3" name="TextBox 32"/>
          <p:cNvSpPr txBox="1"/>
          <p:nvPr/>
        </p:nvSpPr>
        <p:spPr>
          <a:xfrm>
            <a:off x="5897880" y="3657600"/>
            <a:ext cx="155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33333"/>
                </a:solidFill>
              </a:rPr>
              <a:t>0,584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0" y="3611880"/>
            <a:ext cx="1645920" cy="365760"/>
          </a:xfrm>
          <a:prstGeom prst="rect">
            <a:avLst/>
          </a:prstGeom>
          <a:solidFill>
            <a:srgbClr val="D6E4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5" name="TextBox 34"/>
          <p:cNvSpPr txBox="1"/>
          <p:nvPr/>
        </p:nvSpPr>
        <p:spPr>
          <a:xfrm>
            <a:off x="7543800" y="3657600"/>
            <a:ext cx="155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33333"/>
                </a:solidFill>
              </a:rPr>
              <a:t>0,700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977640"/>
            <a:ext cx="23774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7" name="TextBox 36"/>
          <p:cNvSpPr txBox="1"/>
          <p:nvPr/>
        </p:nvSpPr>
        <p:spPr>
          <a:xfrm>
            <a:off x="411480" y="402336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33333"/>
                </a:solidFill>
              </a:rPr>
              <a:t>Agachamento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0" y="3977640"/>
            <a:ext cx="1554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9" name="TextBox 38"/>
          <p:cNvSpPr txBox="1"/>
          <p:nvPr/>
        </p:nvSpPr>
        <p:spPr>
          <a:xfrm>
            <a:off x="2788920" y="4023360"/>
            <a:ext cx="14630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333333"/>
                </a:solidFill>
              </a:rPr>
              <a:t>0,98</a:t>
            </a:r>
            <a:r>
              <a:rPr lang="pt-BR" sz="1600" b="0" i="0" dirty="0">
                <a:solidFill>
                  <a:srgbClr val="333333"/>
                </a:solidFill>
              </a:rPr>
              <a:t>2</a:t>
            </a:r>
            <a:endParaRPr sz="1600" b="0" i="0" dirty="0">
              <a:solidFill>
                <a:srgbClr val="333333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297680" y="3977640"/>
            <a:ext cx="1554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1" name="TextBox 40"/>
          <p:cNvSpPr txBox="1"/>
          <p:nvPr/>
        </p:nvSpPr>
        <p:spPr>
          <a:xfrm>
            <a:off x="4343400" y="4023360"/>
            <a:ext cx="14630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C0392B"/>
                </a:solidFill>
              </a:rPr>
              <a:t>0,9</a:t>
            </a:r>
            <a:r>
              <a:rPr lang="pt-BR" sz="1600" b="0" i="0" dirty="0">
                <a:solidFill>
                  <a:srgbClr val="C0392B"/>
                </a:solidFill>
              </a:rPr>
              <a:t>46</a:t>
            </a:r>
            <a:endParaRPr sz="1600" b="0" i="0" dirty="0">
              <a:solidFill>
                <a:srgbClr val="C0392B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852160" y="3977640"/>
            <a:ext cx="1645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3" name="TextBox 42"/>
          <p:cNvSpPr txBox="1"/>
          <p:nvPr/>
        </p:nvSpPr>
        <p:spPr>
          <a:xfrm>
            <a:off x="5897880" y="4023360"/>
            <a:ext cx="155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33333"/>
                </a:solidFill>
              </a:rPr>
              <a:t>0,809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80" y="3977640"/>
            <a:ext cx="1645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5" name="TextBox 44"/>
          <p:cNvSpPr txBox="1"/>
          <p:nvPr/>
        </p:nvSpPr>
        <p:spPr>
          <a:xfrm>
            <a:off x="7543800" y="4023360"/>
            <a:ext cx="155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33333"/>
                </a:solidFill>
              </a:rPr>
              <a:t>1,000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343400"/>
            <a:ext cx="2377440" cy="365760"/>
          </a:xfrm>
          <a:prstGeom prst="rect">
            <a:avLst/>
          </a:prstGeom>
          <a:solidFill>
            <a:srgbClr val="FF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7" name="TextBox 46"/>
          <p:cNvSpPr txBox="1"/>
          <p:nvPr/>
        </p:nvSpPr>
        <p:spPr>
          <a:xfrm>
            <a:off x="411480" y="438912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33333"/>
                </a:solidFill>
              </a:rPr>
              <a:t>Descanso ⚠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0" y="4343400"/>
            <a:ext cx="1554480" cy="365760"/>
          </a:xfrm>
          <a:prstGeom prst="rect">
            <a:avLst/>
          </a:prstGeom>
          <a:solidFill>
            <a:srgbClr val="FF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9" name="TextBox 48"/>
          <p:cNvSpPr txBox="1"/>
          <p:nvPr/>
        </p:nvSpPr>
        <p:spPr>
          <a:xfrm>
            <a:off x="2788920" y="4389120"/>
            <a:ext cx="14630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333333"/>
                </a:solidFill>
              </a:rPr>
              <a:t>0,18</a:t>
            </a:r>
            <a:r>
              <a:rPr lang="pt-BR" sz="1600" b="0" i="0" dirty="0">
                <a:solidFill>
                  <a:srgbClr val="333333"/>
                </a:solidFill>
              </a:rPr>
              <a:t>5</a:t>
            </a:r>
            <a:endParaRPr sz="1600" b="0" i="0" dirty="0">
              <a:solidFill>
                <a:srgbClr val="333333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4297680" y="4343400"/>
            <a:ext cx="1554480" cy="365760"/>
          </a:xfrm>
          <a:prstGeom prst="rect">
            <a:avLst/>
          </a:prstGeom>
          <a:solidFill>
            <a:srgbClr val="FF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1" name="TextBox 50"/>
          <p:cNvSpPr txBox="1"/>
          <p:nvPr/>
        </p:nvSpPr>
        <p:spPr>
          <a:xfrm>
            <a:off x="4343400" y="4389120"/>
            <a:ext cx="14630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C0392B"/>
                </a:solidFill>
              </a:rPr>
              <a:t>0,11</a:t>
            </a:r>
            <a:r>
              <a:rPr lang="pt-BR" sz="1600" b="0" i="0" dirty="0">
                <a:solidFill>
                  <a:srgbClr val="C0392B"/>
                </a:solidFill>
              </a:rPr>
              <a:t>3</a:t>
            </a:r>
            <a:endParaRPr sz="1600" b="0" i="0" dirty="0">
              <a:solidFill>
                <a:srgbClr val="C0392B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5852160" y="4343400"/>
            <a:ext cx="1645920" cy="365760"/>
          </a:xfrm>
          <a:prstGeom prst="rect">
            <a:avLst/>
          </a:prstGeom>
          <a:solidFill>
            <a:srgbClr val="FF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3" name="TextBox 52"/>
          <p:cNvSpPr txBox="1"/>
          <p:nvPr/>
        </p:nvSpPr>
        <p:spPr>
          <a:xfrm>
            <a:off x="5897880" y="4389120"/>
            <a:ext cx="155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33333"/>
                </a:solidFill>
              </a:rPr>
              <a:t>1,000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98080" y="4343400"/>
            <a:ext cx="1645920" cy="365760"/>
          </a:xfrm>
          <a:prstGeom prst="rect">
            <a:avLst/>
          </a:prstGeom>
          <a:solidFill>
            <a:srgbClr val="FF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5" name="TextBox 54"/>
          <p:cNvSpPr txBox="1"/>
          <p:nvPr/>
        </p:nvSpPr>
        <p:spPr>
          <a:xfrm>
            <a:off x="7543800" y="4389120"/>
            <a:ext cx="155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33333"/>
                </a:solidFill>
              </a:rPr>
              <a:t>0,460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4709160"/>
            <a:ext cx="23774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7" name="TextBox 56"/>
          <p:cNvSpPr txBox="1"/>
          <p:nvPr/>
        </p:nvSpPr>
        <p:spPr>
          <a:xfrm>
            <a:off x="411480" y="475488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33333"/>
                </a:solidFill>
              </a:rPr>
              <a:t>Rosca bíceps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0" y="4709160"/>
            <a:ext cx="1554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9" name="TextBox 58"/>
          <p:cNvSpPr txBox="1"/>
          <p:nvPr/>
        </p:nvSpPr>
        <p:spPr>
          <a:xfrm>
            <a:off x="2788920" y="4754880"/>
            <a:ext cx="14630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333333"/>
                </a:solidFill>
              </a:rPr>
              <a:t>0,86</a:t>
            </a:r>
            <a:r>
              <a:rPr lang="pt-BR" sz="1600" b="0" i="0" dirty="0">
                <a:solidFill>
                  <a:srgbClr val="333333"/>
                </a:solidFill>
              </a:rPr>
              <a:t>3</a:t>
            </a:r>
            <a:endParaRPr sz="1600" b="0" i="0" dirty="0">
              <a:solidFill>
                <a:srgbClr val="333333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4297680" y="4709160"/>
            <a:ext cx="1554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1" name="TextBox 60"/>
          <p:cNvSpPr txBox="1"/>
          <p:nvPr/>
        </p:nvSpPr>
        <p:spPr>
          <a:xfrm>
            <a:off x="4343400" y="4754880"/>
            <a:ext cx="14630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7A4A"/>
                </a:solidFill>
              </a:rPr>
              <a:t>1,000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52160" y="4709160"/>
            <a:ext cx="1645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3" name="TextBox 62"/>
          <p:cNvSpPr txBox="1"/>
          <p:nvPr/>
        </p:nvSpPr>
        <p:spPr>
          <a:xfrm>
            <a:off x="5897880" y="4754880"/>
            <a:ext cx="155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33333"/>
                </a:solidFill>
              </a:rPr>
              <a:t>0,777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98080" y="4709160"/>
            <a:ext cx="1645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5" name="TextBox 64"/>
          <p:cNvSpPr txBox="1"/>
          <p:nvPr/>
        </p:nvSpPr>
        <p:spPr>
          <a:xfrm>
            <a:off x="7543800" y="4754880"/>
            <a:ext cx="155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33333"/>
                </a:solidFill>
              </a:rPr>
              <a:t>0,670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5074920"/>
            <a:ext cx="2377440" cy="365760"/>
          </a:xfrm>
          <a:prstGeom prst="rect">
            <a:avLst/>
          </a:prstGeom>
          <a:solidFill>
            <a:srgbClr val="D6E4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7" name="TextBox 66"/>
          <p:cNvSpPr txBox="1"/>
          <p:nvPr/>
        </p:nvSpPr>
        <p:spPr>
          <a:xfrm>
            <a:off x="411480" y="512064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33333"/>
                </a:solidFill>
              </a:rPr>
              <a:t>Média c/ desc.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0" y="5074920"/>
            <a:ext cx="1554480" cy="365760"/>
          </a:xfrm>
          <a:prstGeom prst="rect">
            <a:avLst/>
          </a:prstGeom>
          <a:solidFill>
            <a:srgbClr val="D6E4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9" name="TextBox 68"/>
          <p:cNvSpPr txBox="1"/>
          <p:nvPr/>
        </p:nvSpPr>
        <p:spPr>
          <a:xfrm>
            <a:off x="2788920" y="5120640"/>
            <a:ext cx="14630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333333"/>
                </a:solidFill>
              </a:rPr>
              <a:t>0,72</a:t>
            </a:r>
            <a:r>
              <a:rPr lang="pt-BR" sz="1600" b="1" i="0" dirty="0">
                <a:solidFill>
                  <a:srgbClr val="333333"/>
                </a:solidFill>
              </a:rPr>
              <a:t>5</a:t>
            </a:r>
            <a:endParaRPr sz="1600" b="1" i="0" dirty="0">
              <a:solidFill>
                <a:srgbClr val="333333"/>
              </a:solidFill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4297680" y="5074920"/>
            <a:ext cx="1554480" cy="365760"/>
          </a:xfrm>
          <a:prstGeom prst="rect">
            <a:avLst/>
          </a:prstGeom>
          <a:solidFill>
            <a:srgbClr val="D6E4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1" name="TextBox 70"/>
          <p:cNvSpPr txBox="1"/>
          <p:nvPr/>
        </p:nvSpPr>
        <p:spPr>
          <a:xfrm>
            <a:off x="4343400" y="5120640"/>
            <a:ext cx="14630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7A4A"/>
                </a:solidFill>
              </a:rPr>
              <a:t>0,745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852160" y="5074920"/>
            <a:ext cx="1645920" cy="365760"/>
          </a:xfrm>
          <a:prstGeom prst="rect">
            <a:avLst/>
          </a:prstGeom>
          <a:solidFill>
            <a:srgbClr val="D6E4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3" name="TextBox 72"/>
          <p:cNvSpPr txBox="1"/>
          <p:nvPr/>
        </p:nvSpPr>
        <p:spPr>
          <a:xfrm>
            <a:off x="5897880" y="5120640"/>
            <a:ext cx="155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33333"/>
                </a:solidFill>
              </a:rPr>
              <a:t>0,793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498080" y="5074920"/>
            <a:ext cx="1645920" cy="365760"/>
          </a:xfrm>
          <a:prstGeom prst="rect">
            <a:avLst/>
          </a:prstGeom>
          <a:solidFill>
            <a:srgbClr val="D6E4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5" name="TextBox 74"/>
          <p:cNvSpPr txBox="1"/>
          <p:nvPr/>
        </p:nvSpPr>
        <p:spPr>
          <a:xfrm>
            <a:off x="7543800" y="5120640"/>
            <a:ext cx="155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33333"/>
                </a:solidFill>
              </a:rPr>
              <a:t>0,708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5760" y="5440680"/>
            <a:ext cx="2377440" cy="365760"/>
          </a:xfrm>
          <a:prstGeom prst="rect">
            <a:avLst/>
          </a:prstGeom>
          <a:solidFill>
            <a:srgbClr val="D4EDD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7" name="TextBox 76"/>
          <p:cNvSpPr txBox="1"/>
          <p:nvPr/>
        </p:nvSpPr>
        <p:spPr>
          <a:xfrm>
            <a:off x="411480" y="548640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333333"/>
                </a:solidFill>
              </a:rPr>
              <a:t>M</a:t>
            </a:r>
            <a:r>
              <a:rPr lang="pt-BR" sz="1600" b="1" i="0" dirty="0" err="1">
                <a:solidFill>
                  <a:srgbClr val="333333"/>
                </a:solidFill>
              </a:rPr>
              <a:t>édia</a:t>
            </a:r>
            <a:r>
              <a:rPr lang="pt-BR" sz="1600" b="1" i="0" dirty="0">
                <a:solidFill>
                  <a:srgbClr val="333333"/>
                </a:solidFill>
              </a:rPr>
              <a:t> exercícios    </a:t>
            </a:r>
            <a:endParaRPr sz="1600" b="1" i="0" dirty="0">
              <a:solidFill>
                <a:srgbClr val="333333"/>
              </a:solidFill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2743200" y="5440680"/>
            <a:ext cx="1554480" cy="365760"/>
          </a:xfrm>
          <a:prstGeom prst="rect">
            <a:avLst/>
          </a:prstGeom>
          <a:solidFill>
            <a:srgbClr val="D4EDD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9" name="TextBox 78"/>
          <p:cNvSpPr txBox="1"/>
          <p:nvPr/>
        </p:nvSpPr>
        <p:spPr>
          <a:xfrm>
            <a:off x="2788920" y="5486400"/>
            <a:ext cx="14630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333333"/>
                </a:solidFill>
              </a:rPr>
              <a:t>0,90</a:t>
            </a:r>
            <a:r>
              <a:rPr lang="pt-BR" sz="1600" b="1" i="0" dirty="0">
                <a:solidFill>
                  <a:srgbClr val="333333"/>
                </a:solidFill>
              </a:rPr>
              <a:t>5</a:t>
            </a:r>
            <a:endParaRPr sz="1600" b="1" i="0" dirty="0">
              <a:solidFill>
                <a:srgbClr val="333333"/>
              </a:solidFill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4297680" y="5440680"/>
            <a:ext cx="1554480" cy="365760"/>
          </a:xfrm>
          <a:prstGeom prst="rect">
            <a:avLst/>
          </a:prstGeom>
          <a:solidFill>
            <a:srgbClr val="D4EDD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81" name="TextBox 80"/>
          <p:cNvSpPr txBox="1"/>
          <p:nvPr/>
        </p:nvSpPr>
        <p:spPr>
          <a:xfrm>
            <a:off x="4343400" y="5486400"/>
            <a:ext cx="14630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1A7A4A"/>
                </a:solidFill>
              </a:rPr>
              <a:t>0,95</a:t>
            </a:r>
            <a:r>
              <a:rPr lang="pt-BR" sz="1600" b="1" i="0" dirty="0">
                <a:solidFill>
                  <a:srgbClr val="1A7A4A"/>
                </a:solidFill>
              </a:rPr>
              <a:t>5</a:t>
            </a:r>
            <a:endParaRPr sz="1600" b="1" i="0" dirty="0">
              <a:solidFill>
                <a:srgbClr val="1A7A4A"/>
              </a:solidFill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5852160" y="5440680"/>
            <a:ext cx="1645920" cy="365760"/>
          </a:xfrm>
          <a:prstGeom prst="rect">
            <a:avLst/>
          </a:prstGeom>
          <a:solidFill>
            <a:srgbClr val="D4EDD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83" name="TextBox 82"/>
          <p:cNvSpPr txBox="1"/>
          <p:nvPr/>
        </p:nvSpPr>
        <p:spPr>
          <a:xfrm>
            <a:off x="5897880" y="5486400"/>
            <a:ext cx="155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33333"/>
                </a:solidFill>
              </a:rPr>
              <a:t>0,724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498080" y="5440680"/>
            <a:ext cx="1645920" cy="365760"/>
          </a:xfrm>
          <a:prstGeom prst="rect">
            <a:avLst/>
          </a:prstGeom>
          <a:solidFill>
            <a:srgbClr val="D4EDD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85" name="TextBox 84"/>
          <p:cNvSpPr txBox="1"/>
          <p:nvPr/>
        </p:nvSpPr>
        <p:spPr>
          <a:xfrm>
            <a:off x="7543800" y="5486400"/>
            <a:ext cx="155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33333"/>
                </a:solidFill>
              </a:rPr>
              <a:t>0,790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74320" y="6099048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dirty="0"/>
              <a:t>Descanso = principal </a:t>
            </a:r>
            <a:r>
              <a:rPr b="0" i="1" dirty="0" err="1"/>
              <a:t>gargalo</a:t>
            </a:r>
            <a:r>
              <a:rPr b="0" i="1" dirty="0"/>
              <a:t>: </a:t>
            </a:r>
            <a:r>
              <a:rPr b="0" i="1" dirty="0" err="1"/>
              <a:t>movimentos</a:t>
            </a:r>
            <a:r>
              <a:rPr b="0" i="1" dirty="0"/>
              <a:t> livres de </a:t>
            </a:r>
            <a:r>
              <a:rPr b="0" i="1" dirty="0" err="1"/>
              <a:t>braço</a:t>
            </a:r>
            <a:r>
              <a:rPr b="0" i="1" dirty="0"/>
              <a:t> </a:t>
            </a:r>
            <a:r>
              <a:rPr b="0" i="1" dirty="0" err="1"/>
              <a:t>sobrepõem</a:t>
            </a:r>
            <a:r>
              <a:rPr b="0" i="1" dirty="0"/>
              <a:t> as </a:t>
            </a:r>
            <a:r>
              <a:rPr b="0" i="1" dirty="0" err="1"/>
              <a:t>faixas</a:t>
            </a:r>
            <a:r>
              <a:rPr b="0" i="1" dirty="0"/>
              <a:t> </a:t>
            </a:r>
            <a:r>
              <a:rPr b="0" i="1" dirty="0" err="1"/>
              <a:t>angulares</a:t>
            </a:r>
            <a:r>
              <a:rPr b="0" i="1" dirty="0"/>
              <a:t> dos </a:t>
            </a:r>
            <a:r>
              <a:rPr b="0" i="1" dirty="0" err="1"/>
              <a:t>exercícios</a:t>
            </a:r>
            <a:r>
              <a:rPr b="0" i="1" dirty="0"/>
              <a:t> </a:t>
            </a:r>
            <a:r>
              <a:rPr b="0" i="1" dirty="0" err="1"/>
              <a:t>ativos</a:t>
            </a:r>
            <a:endParaRPr b="0" i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Conclusão 3 — A contagem automática é robusta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 err="1">
                <a:solidFill>
                  <a:srgbClr val="BFD7FF"/>
                </a:solidFill>
              </a:rPr>
              <a:t>Máquina</a:t>
            </a:r>
            <a:r>
              <a:rPr sz="2000" b="0" i="0" dirty="0">
                <a:solidFill>
                  <a:srgbClr val="BFD7FF"/>
                </a:solidFill>
              </a:rPr>
              <a:t> de </a:t>
            </a:r>
            <a:r>
              <a:rPr sz="2000" b="0" i="0" dirty="0" err="1">
                <a:solidFill>
                  <a:srgbClr val="BFD7FF"/>
                </a:solidFill>
              </a:rPr>
              <a:t>estados</a:t>
            </a:r>
            <a:r>
              <a:rPr sz="2000" b="0" i="0" dirty="0">
                <a:solidFill>
                  <a:srgbClr val="BFD7FF"/>
                </a:solidFill>
              </a:rPr>
              <a:t> com </a:t>
            </a:r>
            <a:r>
              <a:rPr sz="2000" b="0" i="0" dirty="0" err="1">
                <a:solidFill>
                  <a:srgbClr val="BFD7FF"/>
                </a:solidFill>
              </a:rPr>
              <a:t>histerese</a:t>
            </a:r>
            <a:r>
              <a:rPr sz="2000" b="0" i="0" dirty="0">
                <a:solidFill>
                  <a:srgbClr val="BFD7FF"/>
                </a:solidFill>
              </a:rPr>
              <a:t> — </a:t>
            </a:r>
            <a:r>
              <a:rPr sz="2000" b="0" i="0" dirty="0" err="1">
                <a:solidFill>
                  <a:srgbClr val="BFD7FF"/>
                </a:solidFill>
              </a:rPr>
              <a:t>sem</a:t>
            </a:r>
            <a:r>
              <a:rPr sz="2000" b="0" i="0" dirty="0">
                <a:solidFill>
                  <a:srgbClr val="BFD7FF"/>
                </a:solidFill>
              </a:rPr>
              <a:t> </a:t>
            </a:r>
            <a:r>
              <a:rPr sz="2000" b="0" i="0" dirty="0" err="1">
                <a:solidFill>
                  <a:srgbClr val="BFD7FF"/>
                </a:solidFill>
              </a:rPr>
              <a:t>treinamento</a:t>
            </a:r>
            <a:r>
              <a:rPr sz="2000" b="0" i="0" dirty="0">
                <a:solidFill>
                  <a:srgbClr val="BFD7FF"/>
                </a:solidFill>
              </a:rPr>
              <a:t> </a:t>
            </a:r>
            <a:r>
              <a:rPr sz="2000" b="0" i="0" dirty="0" err="1">
                <a:solidFill>
                  <a:srgbClr val="BFD7FF"/>
                </a:solidFill>
              </a:rPr>
              <a:t>prévio</a:t>
            </a:r>
            <a:endParaRPr sz="2000" b="0" i="0" dirty="0">
              <a:solidFill>
                <a:srgbClr val="BFD7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583680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FD7FF"/>
                </a:solidFill>
              </a:rPr>
              <a:t>RACE — Reconhecimento e Avaliação Computacional de Exercícios | UNISO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1640312" cy="640080"/>
          </a:xfrm>
          <a:prstGeom prst="rect">
            <a:avLst/>
          </a:prstGeom>
          <a:solidFill>
            <a:srgbClr val="D4EDD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16152"/>
            <a:ext cx="11247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A5C34"/>
                </a:solidFill>
              </a:rPr>
              <a:t>A </a:t>
            </a:r>
            <a:r>
              <a:rPr sz="1400" b="1" i="0" dirty="0" err="1">
                <a:solidFill>
                  <a:srgbClr val="1A5C34"/>
                </a:solidFill>
              </a:rPr>
              <a:t>máquina</a:t>
            </a:r>
            <a:r>
              <a:rPr sz="1400" b="1" i="0" dirty="0">
                <a:solidFill>
                  <a:srgbClr val="1A5C34"/>
                </a:solidFill>
              </a:rPr>
              <a:t> de </a:t>
            </a:r>
            <a:r>
              <a:rPr sz="1400" b="1" i="0" dirty="0" err="1">
                <a:solidFill>
                  <a:srgbClr val="1A5C34"/>
                </a:solidFill>
              </a:rPr>
              <a:t>estados</a:t>
            </a:r>
            <a:r>
              <a:rPr sz="1400" b="1" i="0" dirty="0">
                <a:solidFill>
                  <a:srgbClr val="1A5C34"/>
                </a:solidFill>
              </a:rPr>
              <a:t> </a:t>
            </a:r>
            <a:r>
              <a:rPr sz="1400" b="1" i="0" dirty="0" err="1">
                <a:solidFill>
                  <a:srgbClr val="1A5C34"/>
                </a:solidFill>
              </a:rPr>
              <a:t>detectou</a:t>
            </a:r>
            <a:r>
              <a:rPr sz="1400" b="1" i="0" dirty="0">
                <a:solidFill>
                  <a:srgbClr val="1A5C34"/>
                </a:solidFill>
              </a:rPr>
              <a:t> </a:t>
            </a:r>
            <a:r>
              <a:rPr sz="1400" b="1" i="0" dirty="0" err="1">
                <a:solidFill>
                  <a:srgbClr val="1A5C34"/>
                </a:solidFill>
              </a:rPr>
              <a:t>ciclos</a:t>
            </a:r>
            <a:r>
              <a:rPr sz="1400" b="1" i="0" dirty="0">
                <a:solidFill>
                  <a:srgbClr val="1A5C34"/>
                </a:solidFill>
              </a:rPr>
              <a:t> </a:t>
            </a:r>
            <a:r>
              <a:rPr sz="1400" b="1" i="0" dirty="0" err="1">
                <a:solidFill>
                  <a:srgbClr val="1A5C34"/>
                </a:solidFill>
              </a:rPr>
              <a:t>completos</a:t>
            </a:r>
            <a:r>
              <a:rPr sz="1400" b="1" i="0" dirty="0">
                <a:solidFill>
                  <a:srgbClr val="1A5C34"/>
                </a:solidFill>
              </a:rPr>
              <a:t> de </a:t>
            </a:r>
            <a:r>
              <a:rPr sz="1400" b="1" i="0" dirty="0" err="1">
                <a:solidFill>
                  <a:srgbClr val="1A5C34"/>
                </a:solidFill>
              </a:rPr>
              <a:t>movimento</a:t>
            </a:r>
            <a:r>
              <a:rPr sz="1400" b="1" i="0" dirty="0">
                <a:solidFill>
                  <a:srgbClr val="1A5C34"/>
                </a:solidFill>
              </a:rPr>
              <a:t> (ESTENDIDO → CONTRAÍDO → ESTENDIDO) de forma </a:t>
            </a:r>
            <a:r>
              <a:rPr sz="1400" b="1" i="0" dirty="0" err="1">
                <a:solidFill>
                  <a:srgbClr val="1A5C34"/>
                </a:solidFill>
              </a:rPr>
              <a:t>coerente</a:t>
            </a:r>
            <a:r>
              <a:rPr sz="1400" b="1" i="0" dirty="0">
                <a:solidFill>
                  <a:srgbClr val="1A5C34"/>
                </a:solidFill>
              </a:rPr>
              <a:t> com a </a:t>
            </a:r>
            <a:r>
              <a:rPr sz="1400" b="1" i="0" dirty="0" err="1">
                <a:solidFill>
                  <a:srgbClr val="1A5C34"/>
                </a:solidFill>
              </a:rPr>
              <a:t>cadência</a:t>
            </a:r>
            <a:r>
              <a:rPr sz="1400" b="1" i="0" dirty="0">
                <a:solidFill>
                  <a:srgbClr val="1A5C34"/>
                </a:solidFill>
              </a:rPr>
              <a:t> real dos </a:t>
            </a:r>
            <a:r>
              <a:rPr sz="1400" b="1" i="0" dirty="0" err="1">
                <a:solidFill>
                  <a:srgbClr val="1A5C34"/>
                </a:solidFill>
              </a:rPr>
              <a:t>vídeos</a:t>
            </a:r>
            <a:r>
              <a:rPr sz="1400" b="1" i="0" dirty="0">
                <a:solidFill>
                  <a:srgbClr val="1A5C34"/>
                </a:solidFill>
              </a:rPr>
              <a:t>, </a:t>
            </a:r>
            <a:r>
              <a:rPr sz="1400" b="1" i="0" dirty="0" err="1">
                <a:solidFill>
                  <a:srgbClr val="1A5C34"/>
                </a:solidFill>
              </a:rPr>
              <a:t>sem</a:t>
            </a:r>
            <a:r>
              <a:rPr sz="1400" b="1" i="0" dirty="0">
                <a:solidFill>
                  <a:srgbClr val="1A5C34"/>
                </a:solidFill>
              </a:rPr>
              <a:t> </a:t>
            </a:r>
            <a:r>
              <a:rPr sz="1400" b="1" i="0" dirty="0" err="1">
                <a:solidFill>
                  <a:srgbClr val="1A5C34"/>
                </a:solidFill>
              </a:rPr>
              <a:t>qualquer</a:t>
            </a:r>
            <a:r>
              <a:rPr sz="1400" b="1" i="0" dirty="0">
                <a:solidFill>
                  <a:srgbClr val="1A5C34"/>
                </a:solidFill>
              </a:rPr>
              <a:t> </a:t>
            </a:r>
            <a:r>
              <a:rPr sz="1400" b="1" i="0" dirty="0" err="1">
                <a:solidFill>
                  <a:srgbClr val="1A5C34"/>
                </a:solidFill>
              </a:rPr>
              <a:t>treinamento</a:t>
            </a:r>
            <a:r>
              <a:rPr sz="1400" b="1" i="0" dirty="0">
                <a:solidFill>
                  <a:srgbClr val="1A5C34"/>
                </a:solidFill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65960"/>
            <a:ext cx="5394960" cy="2468880"/>
          </a:xfrm>
          <a:prstGeom prst="rect">
            <a:avLst/>
          </a:prstGeom>
          <a:solidFill>
            <a:srgbClr val="F0F5FF"/>
          </a:solidFill>
          <a:ln w="19050">
            <a:solidFill>
              <a:srgbClr val="24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0299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A375E"/>
                </a:solidFill>
              </a:rPr>
              <a:t>Como </a:t>
            </a:r>
            <a:r>
              <a:rPr sz="2000" b="1" i="0" dirty="0" err="1">
                <a:solidFill>
                  <a:srgbClr val="1A375E"/>
                </a:solidFill>
              </a:rPr>
              <a:t>funciona</a:t>
            </a:r>
            <a:endParaRPr sz="2000" b="1" i="0" dirty="0">
              <a:solidFill>
                <a:srgbClr val="1A375E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2468880"/>
            <a:ext cx="5120640" cy="1682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dirty="0">
                <a:solidFill>
                  <a:srgbClr val="333333"/>
                </a:solidFill>
              </a:rPr>
              <a:t>▸ </a:t>
            </a:r>
            <a:r>
              <a:rPr dirty="0" err="1">
                <a:solidFill>
                  <a:srgbClr val="333333"/>
                </a:solidFill>
              </a:rPr>
              <a:t>Sinal</a:t>
            </a:r>
            <a:r>
              <a:rPr dirty="0">
                <a:solidFill>
                  <a:srgbClr val="333333"/>
                </a:solidFill>
              </a:rPr>
              <a:t> bilateral </a:t>
            </a:r>
            <a:r>
              <a:rPr dirty="0" err="1">
                <a:solidFill>
                  <a:srgbClr val="333333"/>
                </a:solidFill>
              </a:rPr>
              <a:t>ponderado</a:t>
            </a:r>
            <a:r>
              <a:rPr dirty="0">
                <a:solidFill>
                  <a:srgbClr val="333333"/>
                </a:solidFill>
              </a:rPr>
              <a:t> </a:t>
            </a:r>
            <a:r>
              <a:rPr dirty="0" err="1">
                <a:solidFill>
                  <a:srgbClr val="333333"/>
                </a:solidFill>
              </a:rPr>
              <a:t>por</a:t>
            </a:r>
            <a:r>
              <a:rPr dirty="0">
                <a:solidFill>
                  <a:srgbClr val="333333"/>
                </a:solidFill>
              </a:rPr>
              <a:t> </a:t>
            </a:r>
            <a:r>
              <a:rPr dirty="0" err="1">
                <a:solidFill>
                  <a:srgbClr val="333333"/>
                </a:solidFill>
              </a:rPr>
              <a:t>visibilidade</a:t>
            </a:r>
            <a:endParaRPr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dirty="0">
                <a:solidFill>
                  <a:srgbClr val="333333"/>
                </a:solidFill>
              </a:rPr>
              <a:t>▸ 2 </a:t>
            </a:r>
            <a:r>
              <a:rPr dirty="0" err="1">
                <a:solidFill>
                  <a:srgbClr val="333333"/>
                </a:solidFill>
              </a:rPr>
              <a:t>estados</a:t>
            </a:r>
            <a:r>
              <a:rPr dirty="0">
                <a:solidFill>
                  <a:srgbClr val="333333"/>
                </a:solidFill>
              </a:rPr>
              <a:t>: ESTENDIDO e CONTRAÍDO</a:t>
            </a:r>
          </a:p>
          <a:p>
            <a:pPr>
              <a:spcBef>
                <a:spcPts val="400"/>
              </a:spcBef>
            </a:pPr>
            <a:r>
              <a:rPr dirty="0">
                <a:solidFill>
                  <a:srgbClr val="333333"/>
                </a:solidFill>
              </a:rPr>
              <a:t>▸ </a:t>
            </a:r>
            <a:r>
              <a:rPr dirty="0" err="1">
                <a:solidFill>
                  <a:srgbClr val="333333"/>
                </a:solidFill>
              </a:rPr>
              <a:t>Histerese</a:t>
            </a:r>
            <a:r>
              <a:rPr dirty="0">
                <a:solidFill>
                  <a:srgbClr val="333333"/>
                </a:solidFill>
              </a:rPr>
              <a:t>: </a:t>
            </a:r>
            <a:r>
              <a:rPr dirty="0" err="1">
                <a:solidFill>
                  <a:srgbClr val="333333"/>
                </a:solidFill>
              </a:rPr>
              <a:t>limiares</a:t>
            </a:r>
            <a:r>
              <a:rPr dirty="0">
                <a:solidFill>
                  <a:srgbClr val="333333"/>
                </a:solidFill>
              </a:rPr>
              <a:t> </a:t>
            </a:r>
            <a:r>
              <a:rPr dirty="0" err="1">
                <a:solidFill>
                  <a:srgbClr val="333333"/>
                </a:solidFill>
              </a:rPr>
              <a:t>distintos</a:t>
            </a:r>
            <a:r>
              <a:rPr dirty="0">
                <a:solidFill>
                  <a:srgbClr val="333333"/>
                </a:solidFill>
              </a:rPr>
              <a:t> de
   entrada e </a:t>
            </a:r>
            <a:r>
              <a:rPr dirty="0" err="1">
                <a:solidFill>
                  <a:srgbClr val="333333"/>
                </a:solidFill>
              </a:rPr>
              <a:t>saída</a:t>
            </a:r>
            <a:r>
              <a:rPr dirty="0">
                <a:solidFill>
                  <a:srgbClr val="333333"/>
                </a:solidFill>
              </a:rPr>
              <a:t> → </a:t>
            </a:r>
            <a:r>
              <a:rPr dirty="0" err="1">
                <a:solidFill>
                  <a:srgbClr val="333333"/>
                </a:solidFill>
              </a:rPr>
              <a:t>sem</a:t>
            </a:r>
            <a:r>
              <a:rPr dirty="0">
                <a:solidFill>
                  <a:srgbClr val="333333"/>
                </a:solidFill>
              </a:rPr>
              <a:t> </a:t>
            </a:r>
            <a:r>
              <a:rPr dirty="0" err="1">
                <a:solidFill>
                  <a:srgbClr val="333333"/>
                </a:solidFill>
              </a:rPr>
              <a:t>dupla</a:t>
            </a:r>
            <a:r>
              <a:rPr dirty="0">
                <a:solidFill>
                  <a:srgbClr val="333333"/>
                </a:solidFill>
              </a:rPr>
              <a:t> </a:t>
            </a:r>
            <a:r>
              <a:rPr dirty="0" err="1">
                <a:solidFill>
                  <a:srgbClr val="333333"/>
                </a:solidFill>
              </a:rPr>
              <a:t>contagem</a:t>
            </a:r>
            <a:endParaRPr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dirty="0">
                <a:solidFill>
                  <a:srgbClr val="333333"/>
                </a:solidFill>
              </a:rPr>
              <a:t>▸ </a:t>
            </a:r>
            <a:r>
              <a:rPr dirty="0" err="1">
                <a:solidFill>
                  <a:srgbClr val="333333"/>
                </a:solidFill>
              </a:rPr>
              <a:t>Repetição</a:t>
            </a:r>
            <a:r>
              <a:rPr dirty="0">
                <a:solidFill>
                  <a:srgbClr val="333333"/>
                </a:solidFill>
              </a:rPr>
              <a:t> = </a:t>
            </a:r>
            <a:r>
              <a:rPr dirty="0" err="1">
                <a:solidFill>
                  <a:srgbClr val="333333"/>
                </a:solidFill>
              </a:rPr>
              <a:t>ciclo</a:t>
            </a:r>
            <a:r>
              <a:rPr dirty="0">
                <a:solidFill>
                  <a:srgbClr val="333333"/>
                </a:solidFill>
              </a:rPr>
              <a:t> </a:t>
            </a:r>
            <a:r>
              <a:rPr dirty="0" err="1">
                <a:solidFill>
                  <a:srgbClr val="333333"/>
                </a:solidFill>
              </a:rPr>
              <a:t>completo</a:t>
            </a:r>
            <a:r>
              <a:rPr dirty="0">
                <a:solidFill>
                  <a:srgbClr val="333333"/>
                </a:solidFill>
              </a:rPr>
              <a:t> </a:t>
            </a:r>
            <a:r>
              <a:rPr dirty="0" err="1">
                <a:solidFill>
                  <a:srgbClr val="333333"/>
                </a:solidFill>
              </a:rPr>
              <a:t>concluído</a:t>
            </a:r>
            <a:endParaRPr dirty="0">
              <a:solidFill>
                <a:srgbClr val="333333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0" y="1965960"/>
            <a:ext cx="5943600" cy="2468880"/>
          </a:xfrm>
          <a:prstGeom prst="rect">
            <a:avLst/>
          </a:prstGeom>
          <a:solidFill>
            <a:srgbClr val="F0FBF0"/>
          </a:solidFill>
          <a:ln w="1905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0" y="2029968"/>
            <a:ext cx="5577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1A5C34"/>
                </a:solidFill>
              </a:rPr>
              <a:t>Resultados — Sujeito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487168"/>
            <a:ext cx="2286000" cy="329184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71616" y="2505456"/>
            <a:ext cx="22128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Exercício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2487168"/>
            <a:ext cx="822960" cy="329184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57615" y="2505456"/>
            <a:ext cx="7498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Reps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2487168"/>
            <a:ext cx="1371600" cy="329184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80576" y="2505456"/>
            <a:ext cx="1298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Reps/min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0" y="2487168"/>
            <a:ext cx="1097280" cy="329184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52176" y="2505456"/>
            <a:ext cx="10241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Duração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2834640"/>
            <a:ext cx="2286000" cy="384048"/>
          </a:xfrm>
          <a:prstGeom prst="rect">
            <a:avLst/>
          </a:prstGeom>
          <a:solidFill>
            <a:srgbClr val="D4EDD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3" name="TextBox 22"/>
          <p:cNvSpPr txBox="1"/>
          <p:nvPr/>
        </p:nvSpPr>
        <p:spPr>
          <a:xfrm>
            <a:off x="6071616" y="2889504"/>
            <a:ext cx="22128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33333"/>
                </a:solidFill>
              </a:rPr>
              <a:t>Flexão de braço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2834640"/>
            <a:ext cx="822960" cy="384048"/>
          </a:xfrm>
          <a:prstGeom prst="rect">
            <a:avLst/>
          </a:prstGeom>
          <a:solidFill>
            <a:srgbClr val="D4EDD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5" name="TextBox 24"/>
          <p:cNvSpPr txBox="1"/>
          <p:nvPr/>
        </p:nvSpPr>
        <p:spPr>
          <a:xfrm>
            <a:off x="8357615" y="2889504"/>
            <a:ext cx="7498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33333"/>
                </a:solidFill>
              </a:rPr>
              <a:t>37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2834640"/>
            <a:ext cx="1371600" cy="384048"/>
          </a:xfrm>
          <a:prstGeom prst="rect">
            <a:avLst/>
          </a:prstGeom>
          <a:solidFill>
            <a:srgbClr val="D4EDD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7" name="TextBox 26"/>
          <p:cNvSpPr txBox="1"/>
          <p:nvPr/>
        </p:nvSpPr>
        <p:spPr>
          <a:xfrm>
            <a:off x="9180576" y="2889504"/>
            <a:ext cx="12984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33333"/>
                </a:solidFill>
              </a:rPr>
              <a:t>38,9 /min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515600" y="2834640"/>
            <a:ext cx="1097280" cy="384048"/>
          </a:xfrm>
          <a:prstGeom prst="rect">
            <a:avLst/>
          </a:prstGeom>
          <a:solidFill>
            <a:srgbClr val="D4EDD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9" name="TextBox 28"/>
          <p:cNvSpPr txBox="1"/>
          <p:nvPr/>
        </p:nvSpPr>
        <p:spPr>
          <a:xfrm>
            <a:off x="10552176" y="2889504"/>
            <a:ext cx="10241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33333"/>
                </a:solidFill>
              </a:rPr>
              <a:t>57 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3218688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1" name="TextBox 30"/>
          <p:cNvSpPr txBox="1"/>
          <p:nvPr/>
        </p:nvSpPr>
        <p:spPr>
          <a:xfrm>
            <a:off x="6071616" y="3273552"/>
            <a:ext cx="22128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 err="1">
                <a:solidFill>
                  <a:srgbClr val="333333"/>
                </a:solidFill>
              </a:rPr>
              <a:t>Agachamento</a:t>
            </a:r>
            <a:endParaRPr sz="1600" b="1" i="0" dirty="0">
              <a:solidFill>
                <a:srgbClr val="333333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321040" y="3218688"/>
            <a:ext cx="822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3" name="TextBox 32"/>
          <p:cNvSpPr txBox="1"/>
          <p:nvPr/>
        </p:nvSpPr>
        <p:spPr>
          <a:xfrm>
            <a:off x="8357615" y="3273552"/>
            <a:ext cx="7498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33333"/>
                </a:solidFill>
              </a:rPr>
              <a:t>54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0" y="3218688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5" name="TextBox 34"/>
          <p:cNvSpPr txBox="1"/>
          <p:nvPr/>
        </p:nvSpPr>
        <p:spPr>
          <a:xfrm>
            <a:off x="9180576" y="3273552"/>
            <a:ext cx="12984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33333"/>
                </a:solidFill>
              </a:rPr>
              <a:t>18,3 /min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515600" y="3218688"/>
            <a:ext cx="1097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7" name="TextBox 36"/>
          <p:cNvSpPr txBox="1"/>
          <p:nvPr/>
        </p:nvSpPr>
        <p:spPr>
          <a:xfrm>
            <a:off x="10552176" y="3273552"/>
            <a:ext cx="10241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33333"/>
                </a:solidFill>
              </a:rPr>
              <a:t>177 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35040" y="3602736"/>
            <a:ext cx="2286000" cy="384048"/>
          </a:xfrm>
          <a:prstGeom prst="rect">
            <a:avLst/>
          </a:prstGeom>
          <a:solidFill>
            <a:srgbClr val="D4EDD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9" name="TextBox 38"/>
          <p:cNvSpPr txBox="1"/>
          <p:nvPr/>
        </p:nvSpPr>
        <p:spPr>
          <a:xfrm>
            <a:off x="6071616" y="3657600"/>
            <a:ext cx="22128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33333"/>
                </a:solidFill>
              </a:rPr>
              <a:t>Rosca bíceps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21040" y="3602736"/>
            <a:ext cx="822960" cy="384048"/>
          </a:xfrm>
          <a:prstGeom prst="rect">
            <a:avLst/>
          </a:prstGeom>
          <a:solidFill>
            <a:srgbClr val="D4EDD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1" name="TextBox 40"/>
          <p:cNvSpPr txBox="1"/>
          <p:nvPr/>
        </p:nvSpPr>
        <p:spPr>
          <a:xfrm>
            <a:off x="8357615" y="3657600"/>
            <a:ext cx="7498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33333"/>
                </a:solidFill>
              </a:rPr>
              <a:t>12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602736"/>
            <a:ext cx="1371600" cy="384048"/>
          </a:xfrm>
          <a:prstGeom prst="rect">
            <a:avLst/>
          </a:prstGeom>
          <a:solidFill>
            <a:srgbClr val="D4EDD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3" name="TextBox 42"/>
          <p:cNvSpPr txBox="1"/>
          <p:nvPr/>
        </p:nvSpPr>
        <p:spPr>
          <a:xfrm>
            <a:off x="9180576" y="3657600"/>
            <a:ext cx="12984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33333"/>
                </a:solidFill>
              </a:rPr>
              <a:t> 6,0 /min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515600" y="3602736"/>
            <a:ext cx="1097280" cy="384048"/>
          </a:xfrm>
          <a:prstGeom prst="rect">
            <a:avLst/>
          </a:prstGeom>
          <a:solidFill>
            <a:srgbClr val="D4EDD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5" name="TextBox 44"/>
          <p:cNvSpPr txBox="1"/>
          <p:nvPr/>
        </p:nvSpPr>
        <p:spPr>
          <a:xfrm>
            <a:off x="10552176" y="3657600"/>
            <a:ext cx="10241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33333"/>
                </a:solidFill>
              </a:rPr>
              <a:t>121 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4617720"/>
            <a:ext cx="11430000" cy="1025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dirty="0">
                <a:solidFill>
                  <a:srgbClr val="1A7A4A"/>
                </a:solidFill>
              </a:rPr>
              <a:t>✓  </a:t>
            </a:r>
            <a:r>
              <a:rPr dirty="0" err="1">
                <a:solidFill>
                  <a:srgbClr val="1A7A4A"/>
                </a:solidFill>
              </a:rPr>
              <a:t>Contagens</a:t>
            </a:r>
            <a:r>
              <a:rPr dirty="0">
                <a:solidFill>
                  <a:srgbClr val="1A7A4A"/>
                </a:solidFill>
              </a:rPr>
              <a:t> </a:t>
            </a:r>
            <a:r>
              <a:rPr dirty="0" err="1">
                <a:solidFill>
                  <a:srgbClr val="1A7A4A"/>
                </a:solidFill>
              </a:rPr>
              <a:t>coerentes</a:t>
            </a:r>
            <a:r>
              <a:rPr dirty="0">
                <a:solidFill>
                  <a:srgbClr val="1A7A4A"/>
                </a:solidFill>
              </a:rPr>
              <a:t> com as </a:t>
            </a:r>
            <a:r>
              <a:rPr dirty="0" err="1">
                <a:solidFill>
                  <a:srgbClr val="1A7A4A"/>
                </a:solidFill>
              </a:rPr>
              <a:t>cadências</a:t>
            </a:r>
            <a:r>
              <a:rPr dirty="0">
                <a:solidFill>
                  <a:srgbClr val="1A7A4A"/>
                </a:solidFill>
              </a:rPr>
              <a:t> </a:t>
            </a:r>
            <a:r>
              <a:rPr dirty="0" err="1">
                <a:solidFill>
                  <a:srgbClr val="1A7A4A"/>
                </a:solidFill>
              </a:rPr>
              <a:t>observadas</a:t>
            </a:r>
            <a:r>
              <a:rPr dirty="0">
                <a:solidFill>
                  <a:srgbClr val="1A7A4A"/>
                </a:solidFill>
              </a:rPr>
              <a:t> </a:t>
            </a:r>
            <a:r>
              <a:rPr dirty="0" err="1">
                <a:solidFill>
                  <a:srgbClr val="1A7A4A"/>
                </a:solidFill>
              </a:rPr>
              <a:t>nos</a:t>
            </a:r>
            <a:r>
              <a:rPr dirty="0">
                <a:solidFill>
                  <a:srgbClr val="1A7A4A"/>
                </a:solidFill>
              </a:rPr>
              <a:t> </a:t>
            </a:r>
            <a:r>
              <a:rPr dirty="0" err="1">
                <a:solidFill>
                  <a:srgbClr val="1A7A4A"/>
                </a:solidFill>
              </a:rPr>
              <a:t>vídeos</a:t>
            </a:r>
            <a:endParaRPr dirty="0">
              <a:solidFill>
                <a:srgbClr val="1A7A4A"/>
              </a:solidFill>
            </a:endParaRPr>
          </a:p>
          <a:p>
            <a:pPr>
              <a:spcBef>
                <a:spcPts val="400"/>
              </a:spcBef>
            </a:pPr>
            <a:r>
              <a:rPr dirty="0">
                <a:solidFill>
                  <a:srgbClr val="1A7A4A"/>
                </a:solidFill>
              </a:rPr>
              <a:t>✓  </a:t>
            </a:r>
            <a:r>
              <a:rPr dirty="0" err="1">
                <a:solidFill>
                  <a:srgbClr val="1A7A4A"/>
                </a:solidFill>
              </a:rPr>
              <a:t>Histerese</a:t>
            </a:r>
            <a:r>
              <a:rPr dirty="0">
                <a:solidFill>
                  <a:srgbClr val="1A7A4A"/>
                </a:solidFill>
              </a:rPr>
              <a:t> </a:t>
            </a:r>
            <a:r>
              <a:rPr dirty="0" err="1">
                <a:solidFill>
                  <a:srgbClr val="1A7A4A"/>
                </a:solidFill>
              </a:rPr>
              <a:t>eliminou</a:t>
            </a:r>
            <a:r>
              <a:rPr dirty="0">
                <a:solidFill>
                  <a:srgbClr val="1A7A4A"/>
                </a:solidFill>
              </a:rPr>
              <a:t> </a:t>
            </a:r>
            <a:r>
              <a:rPr dirty="0" err="1">
                <a:solidFill>
                  <a:srgbClr val="1A7A4A"/>
                </a:solidFill>
              </a:rPr>
              <a:t>duplas</a:t>
            </a:r>
            <a:r>
              <a:rPr dirty="0">
                <a:solidFill>
                  <a:srgbClr val="1A7A4A"/>
                </a:solidFill>
              </a:rPr>
              <a:t> </a:t>
            </a:r>
            <a:r>
              <a:rPr dirty="0" err="1">
                <a:solidFill>
                  <a:srgbClr val="1A7A4A"/>
                </a:solidFill>
              </a:rPr>
              <a:t>contagens</a:t>
            </a:r>
            <a:r>
              <a:rPr dirty="0">
                <a:solidFill>
                  <a:srgbClr val="1A7A4A"/>
                </a:solidFill>
              </a:rPr>
              <a:t> </a:t>
            </a:r>
            <a:r>
              <a:rPr dirty="0" err="1">
                <a:solidFill>
                  <a:srgbClr val="1A7A4A"/>
                </a:solidFill>
              </a:rPr>
              <a:t>por</a:t>
            </a:r>
            <a:r>
              <a:rPr dirty="0">
                <a:solidFill>
                  <a:srgbClr val="1A7A4A"/>
                </a:solidFill>
              </a:rPr>
              <a:t> </a:t>
            </a:r>
            <a:r>
              <a:rPr dirty="0" err="1">
                <a:solidFill>
                  <a:srgbClr val="1A7A4A"/>
                </a:solidFill>
              </a:rPr>
              <a:t>ruído</a:t>
            </a:r>
            <a:r>
              <a:rPr dirty="0">
                <a:solidFill>
                  <a:srgbClr val="1A7A4A"/>
                </a:solidFill>
              </a:rPr>
              <a:t> angular</a:t>
            </a:r>
          </a:p>
          <a:p>
            <a:pPr>
              <a:spcBef>
                <a:spcPts val="400"/>
              </a:spcBef>
            </a:pPr>
            <a:r>
              <a:rPr dirty="0">
                <a:solidFill>
                  <a:srgbClr val="1A7A4A"/>
                </a:solidFill>
              </a:rPr>
              <a:t>✓  </a:t>
            </a:r>
            <a:r>
              <a:rPr dirty="0" err="1">
                <a:solidFill>
                  <a:srgbClr val="1A7A4A"/>
                </a:solidFill>
              </a:rPr>
              <a:t>Funciona</a:t>
            </a:r>
            <a:r>
              <a:rPr dirty="0">
                <a:solidFill>
                  <a:srgbClr val="1A7A4A"/>
                </a:solidFill>
              </a:rPr>
              <a:t> </a:t>
            </a:r>
            <a:r>
              <a:rPr dirty="0" err="1">
                <a:solidFill>
                  <a:srgbClr val="1A7A4A"/>
                </a:solidFill>
              </a:rPr>
              <a:t>sem</a:t>
            </a:r>
            <a:r>
              <a:rPr dirty="0">
                <a:solidFill>
                  <a:srgbClr val="1A7A4A"/>
                </a:solidFill>
              </a:rPr>
              <a:t> dados de </a:t>
            </a:r>
            <a:r>
              <a:rPr dirty="0" err="1">
                <a:solidFill>
                  <a:srgbClr val="1A7A4A"/>
                </a:solidFill>
              </a:rPr>
              <a:t>treino</a:t>
            </a:r>
            <a:r>
              <a:rPr dirty="0">
                <a:solidFill>
                  <a:srgbClr val="1A7A4A"/>
                </a:solidFill>
              </a:rPr>
              <a:t> — </a:t>
            </a:r>
            <a:r>
              <a:rPr lang="pt-BR" dirty="0">
                <a:solidFill>
                  <a:srgbClr val="1A7A4A"/>
                </a:solidFill>
              </a:rPr>
              <a:t>com fácil aplicação</a:t>
            </a:r>
            <a:r>
              <a:rPr dirty="0">
                <a:solidFill>
                  <a:srgbClr val="1A7A4A"/>
                </a:solidFill>
              </a:rPr>
              <a:t> </a:t>
            </a:r>
            <a:r>
              <a:rPr lang="pt-BR" dirty="0">
                <a:solidFill>
                  <a:srgbClr val="1A7A4A"/>
                </a:solidFill>
              </a:rPr>
              <a:t>em</a:t>
            </a:r>
            <a:r>
              <a:rPr dirty="0">
                <a:solidFill>
                  <a:srgbClr val="1A7A4A"/>
                </a:solidFill>
              </a:rPr>
              <a:t> </a:t>
            </a:r>
            <a:r>
              <a:rPr dirty="0" err="1">
                <a:solidFill>
                  <a:srgbClr val="1A7A4A"/>
                </a:solidFill>
              </a:rPr>
              <a:t>novos</a:t>
            </a:r>
            <a:r>
              <a:rPr dirty="0">
                <a:solidFill>
                  <a:srgbClr val="1A7A4A"/>
                </a:solidFill>
              </a:rPr>
              <a:t> </a:t>
            </a:r>
            <a:r>
              <a:rPr dirty="0" err="1">
                <a:solidFill>
                  <a:srgbClr val="1A7A4A"/>
                </a:solidFill>
              </a:rPr>
              <a:t>exercícios</a:t>
            </a:r>
            <a:endParaRPr dirty="0">
              <a:solidFill>
                <a:srgbClr val="1A7A4A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 que torna o RACE diferente?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7FF"/>
                </a:solidFill>
              </a:rPr>
              <a:t>Três escolhas metodológicas que sustentam os resultados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583680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FD7FF"/>
                </a:solidFill>
              </a:rPr>
              <a:t>RACE — Reconhecimento e Avaliação Computacional de Exercícios | UNISO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109728" cy="132588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75488" y="1280160"/>
            <a:ext cx="11430000" cy="1325880"/>
          </a:xfrm>
          <a:prstGeom prst="rect">
            <a:avLst/>
          </a:prstGeom>
          <a:solidFill>
            <a:srgbClr val="F4F7FF"/>
          </a:solidFill>
          <a:ln w="12700">
            <a:solidFill>
              <a:srgbClr val="CC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375E"/>
                </a:solidFill>
              </a:rPr>
              <a:t>Sinal bilateral ponderado por visibilidade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10512"/>
            <a:ext cx="11064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333333"/>
                </a:solidFill>
              </a:rPr>
              <a:t>Em </a:t>
            </a:r>
            <a:r>
              <a:rPr sz="1600" b="0" i="0" dirty="0" err="1">
                <a:solidFill>
                  <a:srgbClr val="333333"/>
                </a:solidFill>
              </a:rPr>
              <a:t>vez</a:t>
            </a:r>
            <a:r>
              <a:rPr sz="1600" b="0" i="0" dirty="0">
                <a:solidFill>
                  <a:srgbClr val="333333"/>
                </a:solidFill>
              </a:rPr>
              <a:t> de </a:t>
            </a:r>
            <a:r>
              <a:rPr sz="1600" b="0" i="0" dirty="0" err="1">
                <a:solidFill>
                  <a:srgbClr val="333333"/>
                </a:solidFill>
              </a:rPr>
              <a:t>escolher</a:t>
            </a:r>
            <a:r>
              <a:rPr sz="1600" b="0" i="0" dirty="0">
                <a:solidFill>
                  <a:srgbClr val="333333"/>
                </a:solidFill>
              </a:rPr>
              <a:t> um </a:t>
            </a:r>
            <a:r>
              <a:rPr sz="1600" b="0" i="0" dirty="0" err="1">
                <a:solidFill>
                  <a:srgbClr val="333333"/>
                </a:solidFill>
              </a:rPr>
              <a:t>lado</a:t>
            </a:r>
            <a:r>
              <a:rPr sz="1600" b="0" i="0" dirty="0">
                <a:solidFill>
                  <a:srgbClr val="333333"/>
                </a:solidFill>
              </a:rPr>
              <a:t> do </a:t>
            </a:r>
            <a:r>
              <a:rPr sz="1600" b="0" i="0" dirty="0" err="1">
                <a:solidFill>
                  <a:srgbClr val="333333"/>
                </a:solidFill>
              </a:rPr>
              <a:t>corpo</a:t>
            </a:r>
            <a:r>
              <a:rPr sz="1600" b="0" i="0" dirty="0">
                <a:solidFill>
                  <a:srgbClr val="333333"/>
                </a:solidFill>
              </a:rPr>
              <a:t> </a:t>
            </a:r>
            <a:r>
              <a:rPr sz="1600" b="0" i="0" dirty="0" err="1">
                <a:solidFill>
                  <a:srgbClr val="333333"/>
                </a:solidFill>
              </a:rPr>
              <a:t>arbitrariamente</a:t>
            </a:r>
            <a:r>
              <a:rPr sz="1600" b="0" i="0" dirty="0">
                <a:solidFill>
                  <a:srgbClr val="333333"/>
                </a:solidFill>
              </a:rPr>
              <a:t>, o </a:t>
            </a:r>
            <a:r>
              <a:rPr sz="1600" b="0" i="0" dirty="0" err="1">
                <a:solidFill>
                  <a:srgbClr val="333333"/>
                </a:solidFill>
              </a:rPr>
              <a:t>sistema</a:t>
            </a:r>
            <a:r>
              <a:rPr sz="1600" b="0" i="0" dirty="0">
                <a:solidFill>
                  <a:srgbClr val="333333"/>
                </a:solidFill>
              </a:rPr>
              <a:t> </a:t>
            </a:r>
            <a:r>
              <a:rPr sz="1600" b="0" i="0" dirty="0" err="1">
                <a:solidFill>
                  <a:srgbClr val="333333"/>
                </a:solidFill>
              </a:rPr>
              <a:t>combina</a:t>
            </a:r>
            <a:r>
              <a:rPr sz="1600" b="0" i="0" dirty="0">
                <a:solidFill>
                  <a:srgbClr val="333333"/>
                </a:solidFill>
              </a:rPr>
              <a:t> </a:t>
            </a:r>
            <a:r>
              <a:rPr sz="1600" b="0" i="0" dirty="0" err="1">
                <a:solidFill>
                  <a:srgbClr val="333333"/>
                </a:solidFill>
              </a:rPr>
              <a:t>os</a:t>
            </a:r>
            <a:r>
              <a:rPr sz="1600" b="0" i="0" dirty="0">
                <a:solidFill>
                  <a:srgbClr val="333333"/>
                </a:solidFill>
              </a:rPr>
              <a:t> </a:t>
            </a:r>
            <a:r>
              <a:rPr sz="1600" b="0" i="0" dirty="0" err="1">
                <a:solidFill>
                  <a:srgbClr val="333333"/>
                </a:solidFill>
              </a:rPr>
              <a:t>dois</a:t>
            </a:r>
            <a:r>
              <a:rPr sz="1600" b="0" i="0" dirty="0">
                <a:solidFill>
                  <a:srgbClr val="333333"/>
                </a:solidFill>
              </a:rPr>
              <a:t> </a:t>
            </a:r>
            <a:r>
              <a:rPr sz="1600" b="0" i="0" dirty="0" err="1">
                <a:solidFill>
                  <a:srgbClr val="333333"/>
                </a:solidFill>
              </a:rPr>
              <a:t>lados</a:t>
            </a:r>
            <a:r>
              <a:rPr sz="1600" b="0" i="0" dirty="0">
                <a:solidFill>
                  <a:srgbClr val="333333"/>
                </a:solidFill>
              </a:rPr>
              <a:t> </a:t>
            </a:r>
            <a:r>
              <a:rPr sz="1600" b="0" i="0" dirty="0" err="1">
                <a:solidFill>
                  <a:srgbClr val="333333"/>
                </a:solidFill>
              </a:rPr>
              <a:t>dando</a:t>
            </a:r>
            <a:r>
              <a:rPr sz="1600" b="0" i="0" dirty="0">
                <a:solidFill>
                  <a:srgbClr val="333333"/>
                </a:solidFill>
              </a:rPr>
              <a:t> </a:t>
            </a:r>
            <a:r>
              <a:rPr sz="1600" b="0" i="0" dirty="0" err="1">
                <a:solidFill>
                  <a:srgbClr val="333333"/>
                </a:solidFill>
              </a:rPr>
              <a:t>mais</a:t>
            </a:r>
            <a:r>
              <a:rPr sz="1600" b="0" i="0" dirty="0">
                <a:solidFill>
                  <a:srgbClr val="333333"/>
                </a:solidFill>
              </a:rPr>
              <a:t> peso </a:t>
            </a:r>
            <a:r>
              <a:rPr sz="1600" b="0" i="0" dirty="0" err="1">
                <a:solidFill>
                  <a:srgbClr val="333333"/>
                </a:solidFill>
              </a:rPr>
              <a:t>ao</a:t>
            </a:r>
            <a:r>
              <a:rPr sz="1600" b="0" i="0" dirty="0">
                <a:solidFill>
                  <a:srgbClr val="333333"/>
                </a:solidFill>
              </a:rPr>
              <a:t> que o </a:t>
            </a:r>
            <a:r>
              <a:rPr sz="1600" b="0" i="0" dirty="0" err="1">
                <a:solidFill>
                  <a:srgbClr val="333333"/>
                </a:solidFill>
              </a:rPr>
              <a:t>MediaPipe</a:t>
            </a:r>
            <a:r>
              <a:rPr sz="1600" b="0" i="0" dirty="0">
                <a:solidFill>
                  <a:srgbClr val="333333"/>
                </a:solidFill>
              </a:rPr>
              <a:t> </a:t>
            </a:r>
            <a:r>
              <a:rPr sz="1600" b="0" i="0" dirty="0" err="1">
                <a:solidFill>
                  <a:srgbClr val="333333"/>
                </a:solidFill>
              </a:rPr>
              <a:t>vê</a:t>
            </a:r>
            <a:r>
              <a:rPr sz="1600" b="0" i="0" dirty="0">
                <a:solidFill>
                  <a:srgbClr val="333333"/>
                </a:solidFill>
              </a:rPr>
              <a:t> </a:t>
            </a:r>
            <a:r>
              <a:rPr sz="1600" b="0" i="0" dirty="0" err="1">
                <a:solidFill>
                  <a:srgbClr val="333333"/>
                </a:solidFill>
              </a:rPr>
              <a:t>melhor</a:t>
            </a:r>
            <a:r>
              <a:rPr sz="1600" b="0" i="0" dirty="0">
                <a:solidFill>
                  <a:srgbClr val="333333"/>
                </a:solidFill>
              </a:rPr>
              <a:t>. </a:t>
            </a:r>
            <a:r>
              <a:rPr sz="1600" b="0" i="0" dirty="0" err="1">
                <a:solidFill>
                  <a:srgbClr val="333333"/>
                </a:solidFill>
              </a:rPr>
              <a:t>Isso</a:t>
            </a:r>
            <a:r>
              <a:rPr sz="1600" b="0" i="0" dirty="0">
                <a:solidFill>
                  <a:srgbClr val="333333"/>
                </a:solidFill>
              </a:rPr>
              <a:t> </a:t>
            </a:r>
            <a:r>
              <a:rPr sz="1600" b="0" i="0" dirty="0" err="1">
                <a:solidFill>
                  <a:srgbClr val="333333"/>
                </a:solidFill>
              </a:rPr>
              <a:t>reduz</a:t>
            </a:r>
            <a:r>
              <a:rPr sz="1600" b="0" i="0" dirty="0">
                <a:solidFill>
                  <a:srgbClr val="333333"/>
                </a:solidFill>
              </a:rPr>
              <a:t> o </a:t>
            </a:r>
            <a:r>
              <a:rPr sz="1600" b="0" i="0" dirty="0" err="1">
                <a:solidFill>
                  <a:srgbClr val="333333"/>
                </a:solidFill>
              </a:rPr>
              <a:t>impacto</a:t>
            </a:r>
            <a:r>
              <a:rPr sz="1600" b="0" i="0" dirty="0">
                <a:solidFill>
                  <a:srgbClr val="333333"/>
                </a:solidFill>
              </a:rPr>
              <a:t> de </a:t>
            </a:r>
            <a:r>
              <a:rPr sz="1600" b="0" i="0" dirty="0" err="1">
                <a:solidFill>
                  <a:srgbClr val="333333"/>
                </a:solidFill>
              </a:rPr>
              <a:t>oclusões</a:t>
            </a:r>
            <a:r>
              <a:rPr sz="1600" b="0" i="0" dirty="0">
                <a:solidFill>
                  <a:srgbClr val="333333"/>
                </a:solidFill>
              </a:rPr>
              <a:t> e </a:t>
            </a:r>
            <a:r>
              <a:rPr sz="1600" b="0" i="0" dirty="0" err="1">
                <a:solidFill>
                  <a:srgbClr val="333333"/>
                </a:solidFill>
              </a:rPr>
              <a:t>variações</a:t>
            </a:r>
            <a:r>
              <a:rPr sz="1600" b="0" i="0" dirty="0">
                <a:solidFill>
                  <a:srgbClr val="333333"/>
                </a:solidFill>
              </a:rPr>
              <a:t> de </a:t>
            </a:r>
            <a:r>
              <a:rPr sz="1600" b="0" i="0" dirty="0" err="1">
                <a:solidFill>
                  <a:srgbClr val="333333"/>
                </a:solidFill>
              </a:rPr>
              <a:t>orientação</a:t>
            </a:r>
            <a:r>
              <a:rPr sz="1600" b="0" i="0" dirty="0">
                <a:solidFill>
                  <a:srgbClr val="333333"/>
                </a:solidFill>
              </a:rPr>
              <a:t> da </a:t>
            </a:r>
            <a:r>
              <a:rPr sz="1600" b="0" i="0" dirty="0" err="1">
                <a:solidFill>
                  <a:srgbClr val="333333"/>
                </a:solidFill>
              </a:rPr>
              <a:t>câmera</a:t>
            </a:r>
            <a:r>
              <a:rPr sz="1600" b="0" i="0" dirty="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880360"/>
            <a:ext cx="109728" cy="1325880"/>
          </a:xfrm>
          <a:prstGeom prst="rect">
            <a:avLst/>
          </a:prstGeom>
          <a:solidFill>
            <a:srgbClr val="24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5488" y="2880360"/>
            <a:ext cx="11430000" cy="1325880"/>
          </a:xfrm>
          <a:prstGeom prst="rect">
            <a:avLst/>
          </a:prstGeom>
          <a:solidFill>
            <a:srgbClr val="F4F7FF"/>
          </a:solidFill>
          <a:ln w="12700">
            <a:solidFill>
              <a:srgbClr val="CC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971800"/>
            <a:ext cx="11064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err="1">
                <a:solidFill>
                  <a:srgbClr val="1A375E"/>
                </a:solidFill>
              </a:rPr>
              <a:t>Representação</a:t>
            </a:r>
            <a:r>
              <a:rPr sz="2000" b="1" i="0" dirty="0">
                <a:solidFill>
                  <a:srgbClr val="1A375E"/>
                </a:solidFill>
              </a:rPr>
              <a:t> temporal </a:t>
            </a:r>
            <a:r>
              <a:rPr sz="2000" b="1" i="0" dirty="0" err="1">
                <a:solidFill>
                  <a:srgbClr val="1A375E"/>
                </a:solidFill>
              </a:rPr>
              <a:t>por</a:t>
            </a:r>
            <a:r>
              <a:rPr sz="2000" b="1" i="0" dirty="0">
                <a:solidFill>
                  <a:srgbClr val="1A375E"/>
                </a:solidFill>
              </a:rPr>
              <a:t> </a:t>
            </a:r>
            <a:r>
              <a:rPr sz="2000" b="1" i="0" dirty="0" err="1">
                <a:solidFill>
                  <a:srgbClr val="1A375E"/>
                </a:solidFill>
              </a:rPr>
              <a:t>janelas</a:t>
            </a:r>
            <a:r>
              <a:rPr sz="2000" b="1" i="0" dirty="0">
                <a:solidFill>
                  <a:srgbClr val="1A375E"/>
                </a:solidFill>
              </a:rPr>
              <a:t> </a:t>
            </a:r>
            <a:r>
              <a:rPr sz="2000" b="1" i="0" dirty="0" err="1">
                <a:solidFill>
                  <a:srgbClr val="1A375E"/>
                </a:solidFill>
              </a:rPr>
              <a:t>deslizantes</a:t>
            </a:r>
            <a:endParaRPr sz="2000" b="1" i="0" dirty="0">
              <a:solidFill>
                <a:srgbClr val="1A375E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3410712"/>
            <a:ext cx="11064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Cada amostra de classificação representa 15 frames (~3 s) do movimento, não uma posição instantânea. Isso captura a dinâmica do exercício e torna o modelo robusto a ruído de frame isolado.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480560"/>
            <a:ext cx="109728" cy="13258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5488" y="4480560"/>
            <a:ext cx="11430000" cy="1325880"/>
          </a:xfrm>
          <a:prstGeom prst="rect">
            <a:avLst/>
          </a:prstGeom>
          <a:solidFill>
            <a:srgbClr val="F4F7FF"/>
          </a:solidFill>
          <a:ln w="12700">
            <a:solidFill>
              <a:srgbClr val="CC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57200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err="1">
                <a:solidFill>
                  <a:srgbClr val="1A375E"/>
                </a:solidFill>
              </a:rPr>
              <a:t>Avaliação</a:t>
            </a:r>
            <a:r>
              <a:rPr sz="2000" b="1" i="0" dirty="0">
                <a:solidFill>
                  <a:srgbClr val="1A375E"/>
                </a:solidFill>
              </a:rPr>
              <a:t> </a:t>
            </a:r>
            <a:r>
              <a:rPr sz="2000" b="1" i="0" dirty="0" err="1">
                <a:solidFill>
                  <a:srgbClr val="1A375E"/>
                </a:solidFill>
              </a:rPr>
              <a:t>cruzada</a:t>
            </a:r>
            <a:r>
              <a:rPr sz="2000" b="1" i="0" dirty="0">
                <a:solidFill>
                  <a:srgbClr val="1A375E"/>
                </a:solidFill>
              </a:rPr>
              <a:t> entre </a:t>
            </a:r>
            <a:r>
              <a:rPr sz="2000" b="1" i="0" dirty="0" err="1">
                <a:solidFill>
                  <a:srgbClr val="1A375E"/>
                </a:solidFill>
              </a:rPr>
              <a:t>sujeitos</a:t>
            </a:r>
            <a:endParaRPr sz="2000" b="1" i="0" dirty="0">
              <a:solidFill>
                <a:srgbClr val="1A375E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" y="5010912"/>
            <a:ext cx="11064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Treino e teste usam sujeitos distintos — garantindo que o modelo aprende padrões de movimento, não características de um indivíduo específico. Isso fornece uma estimativa realista da generalização.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Limitações &amp; Próximos Passos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" y="6583680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FD7FF"/>
                </a:solidFill>
              </a:rPr>
              <a:t>RACE — Reconhecimento e Avaliação Computacional de Exercícios | UNISO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486400" cy="5212080"/>
          </a:xfrm>
          <a:prstGeom prst="rect">
            <a:avLst/>
          </a:prstGeom>
          <a:solidFill>
            <a:srgbClr val="FFF5F5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C0392B"/>
                </a:solidFill>
              </a:rPr>
              <a:t>⚠  </a:t>
            </a:r>
            <a:r>
              <a:rPr sz="2000" b="1" i="0" dirty="0" err="1">
                <a:solidFill>
                  <a:srgbClr val="C0392B"/>
                </a:solidFill>
              </a:rPr>
              <a:t>Limitações</a:t>
            </a:r>
            <a:r>
              <a:rPr sz="2000" b="1" i="0" dirty="0">
                <a:solidFill>
                  <a:srgbClr val="C0392B"/>
                </a:solidFill>
              </a:rPr>
              <a:t> </a:t>
            </a:r>
            <a:r>
              <a:rPr sz="2000" b="1" i="0" dirty="0" err="1">
                <a:solidFill>
                  <a:srgbClr val="C0392B"/>
                </a:solidFill>
              </a:rPr>
              <a:t>observadas</a:t>
            </a:r>
            <a:endParaRPr sz="2000" b="1" i="0" dirty="0">
              <a:solidFill>
                <a:srgbClr val="C0392B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5166360" cy="420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dirty="0">
                <a:solidFill>
                  <a:srgbClr val="333333"/>
                </a:solidFill>
              </a:rPr>
              <a:t>▸ Descanso: recall </a:t>
            </a:r>
            <a:r>
              <a:rPr sz="1600" dirty="0" err="1">
                <a:solidFill>
                  <a:srgbClr val="333333"/>
                </a:solidFill>
              </a:rPr>
              <a:t>muito</a:t>
            </a:r>
            <a:r>
              <a:rPr sz="1600" dirty="0">
                <a:solidFill>
                  <a:srgbClr val="333333"/>
                </a:solidFill>
              </a:rPr>
              <a:t> </a:t>
            </a:r>
            <a:r>
              <a:rPr sz="1600" dirty="0" err="1">
                <a:solidFill>
                  <a:srgbClr val="333333"/>
                </a:solidFill>
              </a:rPr>
              <a:t>baixo</a:t>
            </a:r>
            <a:r>
              <a:rPr sz="1600" dirty="0">
                <a:solidFill>
                  <a:srgbClr val="333333"/>
                </a:solidFill>
              </a:rPr>
              <a:t>
   (0,110 RF) — principal </a:t>
            </a:r>
            <a:r>
              <a:rPr sz="1600" dirty="0" err="1">
                <a:solidFill>
                  <a:srgbClr val="333333"/>
                </a:solidFill>
              </a:rPr>
              <a:t>gargalo</a:t>
            </a:r>
            <a:endParaRPr lang="pt-BR" sz="160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endParaRPr sz="160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1600" dirty="0">
                <a:solidFill>
                  <a:srgbClr val="333333"/>
                </a:solidFill>
              </a:rPr>
              <a:t>▸ </a:t>
            </a:r>
            <a:r>
              <a:rPr sz="1600" dirty="0" err="1">
                <a:solidFill>
                  <a:srgbClr val="333333"/>
                </a:solidFill>
              </a:rPr>
              <a:t>Apenas</a:t>
            </a:r>
            <a:r>
              <a:rPr sz="1600" dirty="0">
                <a:solidFill>
                  <a:srgbClr val="333333"/>
                </a:solidFill>
              </a:rPr>
              <a:t> </a:t>
            </a:r>
            <a:r>
              <a:rPr lang="pt-BR" sz="1600" dirty="0">
                <a:solidFill>
                  <a:srgbClr val="333333"/>
                </a:solidFill>
              </a:rPr>
              <a:t>4</a:t>
            </a:r>
            <a:r>
              <a:rPr sz="1600" dirty="0">
                <a:solidFill>
                  <a:srgbClr val="333333"/>
                </a:solidFill>
              </a:rPr>
              <a:t> </a:t>
            </a:r>
            <a:r>
              <a:rPr sz="1600" dirty="0" err="1">
                <a:solidFill>
                  <a:srgbClr val="333333"/>
                </a:solidFill>
              </a:rPr>
              <a:t>sujeitos</a:t>
            </a:r>
            <a:r>
              <a:rPr sz="1600" dirty="0">
                <a:solidFill>
                  <a:srgbClr val="333333"/>
                </a:solidFill>
              </a:rPr>
              <a:t> </a:t>
            </a:r>
            <a:r>
              <a:rPr sz="1600" dirty="0" err="1">
                <a:solidFill>
                  <a:srgbClr val="333333"/>
                </a:solidFill>
              </a:rPr>
              <a:t>válidos</a:t>
            </a:r>
            <a:r>
              <a:rPr sz="1600" dirty="0">
                <a:solidFill>
                  <a:srgbClr val="333333"/>
                </a:solidFill>
              </a:rPr>
              <a:t>
   (</a:t>
            </a:r>
            <a:r>
              <a:rPr sz="1600" dirty="0" err="1">
                <a:solidFill>
                  <a:srgbClr val="333333"/>
                </a:solidFill>
              </a:rPr>
              <a:t>adultos</a:t>
            </a:r>
            <a:r>
              <a:rPr sz="1600" dirty="0">
                <a:solidFill>
                  <a:srgbClr val="333333"/>
                </a:solidFill>
              </a:rPr>
              <a:t> </a:t>
            </a:r>
            <a:r>
              <a:rPr sz="1600" dirty="0" err="1">
                <a:solidFill>
                  <a:srgbClr val="333333"/>
                </a:solidFill>
              </a:rPr>
              <a:t>jovens</a:t>
            </a:r>
            <a:r>
              <a:rPr sz="1600" dirty="0">
                <a:solidFill>
                  <a:srgbClr val="333333"/>
                </a:solidFill>
              </a:rPr>
              <a:t>, </a:t>
            </a:r>
            <a:r>
              <a:rPr sz="1600" dirty="0" err="1">
                <a:solidFill>
                  <a:srgbClr val="333333"/>
                </a:solidFill>
              </a:rPr>
              <a:t>baixa</a:t>
            </a:r>
            <a:r>
              <a:rPr sz="1600" dirty="0">
                <a:solidFill>
                  <a:srgbClr val="333333"/>
                </a:solidFill>
              </a:rPr>
              <a:t> </a:t>
            </a:r>
            <a:r>
              <a:rPr sz="1600" dirty="0" err="1">
                <a:solidFill>
                  <a:srgbClr val="333333"/>
                </a:solidFill>
              </a:rPr>
              <a:t>diversidade</a:t>
            </a:r>
            <a:r>
              <a:rPr sz="1600" dirty="0">
                <a:solidFill>
                  <a:srgbClr val="333333"/>
                </a:solidFill>
              </a:rPr>
              <a:t>)</a:t>
            </a:r>
            <a:endParaRPr lang="pt-BR" sz="160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endParaRPr sz="160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1600" dirty="0">
                <a:solidFill>
                  <a:srgbClr val="333333"/>
                </a:solidFill>
              </a:rPr>
              <a:t>▸ </a:t>
            </a:r>
            <a:r>
              <a:rPr sz="1600" dirty="0" err="1">
                <a:solidFill>
                  <a:srgbClr val="333333"/>
                </a:solidFill>
              </a:rPr>
              <a:t>Ângulos</a:t>
            </a:r>
            <a:r>
              <a:rPr sz="1600" dirty="0">
                <a:solidFill>
                  <a:srgbClr val="333333"/>
                </a:solidFill>
              </a:rPr>
              <a:t> 2D: </a:t>
            </a:r>
            <a:r>
              <a:rPr sz="1600" dirty="0" err="1">
                <a:solidFill>
                  <a:srgbClr val="333333"/>
                </a:solidFill>
              </a:rPr>
              <a:t>distorção</a:t>
            </a:r>
            <a:r>
              <a:rPr sz="1600" dirty="0">
                <a:solidFill>
                  <a:srgbClr val="333333"/>
                </a:solidFill>
              </a:rPr>
              <a:t> </a:t>
            </a:r>
            <a:r>
              <a:rPr sz="1600" dirty="0" err="1">
                <a:solidFill>
                  <a:srgbClr val="333333"/>
                </a:solidFill>
              </a:rPr>
              <a:t>quando</a:t>
            </a:r>
            <a:r>
              <a:rPr sz="1600" dirty="0">
                <a:solidFill>
                  <a:srgbClr val="333333"/>
                </a:solidFill>
              </a:rPr>
              <a:t> o
   plano de </a:t>
            </a:r>
            <a:r>
              <a:rPr sz="1600" dirty="0" err="1">
                <a:solidFill>
                  <a:srgbClr val="333333"/>
                </a:solidFill>
              </a:rPr>
              <a:t>movimento</a:t>
            </a:r>
            <a:r>
              <a:rPr sz="1600" dirty="0">
                <a:solidFill>
                  <a:srgbClr val="333333"/>
                </a:solidFill>
              </a:rPr>
              <a:t> ≠ plano da </a:t>
            </a:r>
            <a:r>
              <a:rPr sz="1600" dirty="0" err="1">
                <a:solidFill>
                  <a:srgbClr val="333333"/>
                </a:solidFill>
              </a:rPr>
              <a:t>imagem</a:t>
            </a:r>
            <a:endParaRPr lang="pt-BR" sz="160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endParaRPr sz="160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1600" dirty="0">
                <a:solidFill>
                  <a:srgbClr val="333333"/>
                </a:solidFill>
              </a:rPr>
              <a:t>▸ </a:t>
            </a:r>
            <a:r>
              <a:rPr sz="1600" dirty="0" err="1">
                <a:solidFill>
                  <a:srgbClr val="333333"/>
                </a:solidFill>
              </a:rPr>
              <a:t>Apenas</a:t>
            </a:r>
            <a:r>
              <a:rPr sz="1600" dirty="0">
                <a:solidFill>
                  <a:srgbClr val="333333"/>
                </a:solidFill>
              </a:rPr>
              <a:t> 3 </a:t>
            </a:r>
            <a:r>
              <a:rPr sz="1600" dirty="0" err="1">
                <a:solidFill>
                  <a:srgbClr val="333333"/>
                </a:solidFill>
              </a:rPr>
              <a:t>exercícios</a:t>
            </a:r>
            <a:r>
              <a:rPr sz="1600" dirty="0">
                <a:solidFill>
                  <a:srgbClr val="333333"/>
                </a:solidFill>
              </a:rPr>
              <a:t> </a:t>
            </a:r>
            <a:r>
              <a:rPr sz="1600" dirty="0" err="1">
                <a:solidFill>
                  <a:srgbClr val="333333"/>
                </a:solidFill>
              </a:rPr>
              <a:t>cobertos</a:t>
            </a:r>
            <a:r>
              <a:rPr sz="1600" dirty="0">
                <a:solidFill>
                  <a:srgbClr val="333333"/>
                </a:solidFill>
              </a:rPr>
              <a:t>;
   </a:t>
            </a:r>
            <a:r>
              <a:rPr sz="1600" dirty="0" err="1">
                <a:solidFill>
                  <a:srgbClr val="333333"/>
                </a:solidFill>
              </a:rPr>
              <a:t>sem</a:t>
            </a:r>
            <a:r>
              <a:rPr sz="1600" dirty="0">
                <a:solidFill>
                  <a:srgbClr val="333333"/>
                </a:solidFill>
              </a:rPr>
              <a:t> </a:t>
            </a:r>
            <a:r>
              <a:rPr sz="1600" dirty="0" err="1">
                <a:solidFill>
                  <a:srgbClr val="333333"/>
                </a:solidFill>
              </a:rPr>
              <a:t>equipamentos</a:t>
            </a:r>
            <a:r>
              <a:rPr sz="1600" dirty="0">
                <a:solidFill>
                  <a:srgbClr val="333333"/>
                </a:solidFill>
              </a:rPr>
              <a:t> </a:t>
            </a:r>
            <a:r>
              <a:rPr sz="1600" dirty="0" err="1">
                <a:solidFill>
                  <a:srgbClr val="333333"/>
                </a:solidFill>
              </a:rPr>
              <a:t>ou</a:t>
            </a:r>
            <a:r>
              <a:rPr sz="1600" dirty="0">
                <a:solidFill>
                  <a:srgbClr val="333333"/>
                </a:solidFill>
              </a:rPr>
              <a:t> </a:t>
            </a:r>
            <a:r>
              <a:rPr sz="1600" dirty="0" err="1">
                <a:solidFill>
                  <a:srgbClr val="333333"/>
                </a:solidFill>
              </a:rPr>
              <a:t>rotação</a:t>
            </a:r>
            <a:r>
              <a:rPr sz="1600" dirty="0">
                <a:solidFill>
                  <a:srgbClr val="333333"/>
                </a:solidFill>
              </a:rPr>
              <a:t> de tronc</a:t>
            </a:r>
            <a:r>
              <a:rPr lang="pt-BR" sz="1600" dirty="0">
                <a:solidFill>
                  <a:srgbClr val="333333"/>
                </a:solidFill>
              </a:rPr>
              <a:t>o</a:t>
            </a:r>
          </a:p>
          <a:p>
            <a:pPr>
              <a:spcBef>
                <a:spcPts val="400"/>
              </a:spcBef>
            </a:pPr>
            <a:endParaRPr sz="160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1600" dirty="0">
                <a:solidFill>
                  <a:srgbClr val="333333"/>
                </a:solidFill>
              </a:rPr>
              <a:t>▸ </a:t>
            </a:r>
            <a:r>
              <a:rPr sz="1600" dirty="0" err="1">
                <a:solidFill>
                  <a:srgbClr val="333333"/>
                </a:solidFill>
              </a:rPr>
              <a:t>Contagem</a:t>
            </a:r>
            <a:r>
              <a:rPr sz="1600" dirty="0">
                <a:solidFill>
                  <a:srgbClr val="333333"/>
                </a:solidFill>
              </a:rPr>
              <a:t> </a:t>
            </a:r>
            <a:r>
              <a:rPr sz="1600" dirty="0" err="1">
                <a:solidFill>
                  <a:srgbClr val="333333"/>
                </a:solidFill>
              </a:rPr>
              <a:t>avaliada</a:t>
            </a:r>
            <a:r>
              <a:rPr sz="1600" dirty="0">
                <a:solidFill>
                  <a:srgbClr val="333333"/>
                </a:solidFill>
              </a:rPr>
              <a:t> </a:t>
            </a:r>
            <a:r>
              <a:rPr sz="1600" dirty="0" err="1">
                <a:solidFill>
                  <a:srgbClr val="333333"/>
                </a:solidFill>
              </a:rPr>
              <a:t>qualitativamente</a:t>
            </a:r>
            <a:r>
              <a:rPr sz="1600" dirty="0">
                <a:solidFill>
                  <a:srgbClr val="333333"/>
                </a:solidFill>
              </a:rPr>
              <a:t>
   (</a:t>
            </a:r>
            <a:r>
              <a:rPr sz="1600" dirty="0" err="1">
                <a:solidFill>
                  <a:srgbClr val="333333"/>
                </a:solidFill>
              </a:rPr>
              <a:t>sem</a:t>
            </a:r>
            <a:r>
              <a:rPr sz="1600" dirty="0">
                <a:solidFill>
                  <a:srgbClr val="333333"/>
                </a:solidFill>
              </a:rPr>
              <a:t> </a:t>
            </a:r>
            <a:r>
              <a:rPr sz="1600" dirty="0" err="1">
                <a:solidFill>
                  <a:srgbClr val="333333"/>
                </a:solidFill>
              </a:rPr>
              <a:t>erro</a:t>
            </a:r>
            <a:r>
              <a:rPr sz="1600" dirty="0">
                <a:solidFill>
                  <a:srgbClr val="333333"/>
                </a:solidFill>
              </a:rPr>
              <a:t> </a:t>
            </a:r>
            <a:r>
              <a:rPr sz="1600" dirty="0" err="1">
                <a:solidFill>
                  <a:srgbClr val="333333"/>
                </a:solidFill>
              </a:rPr>
              <a:t>absoluto</a:t>
            </a:r>
            <a:r>
              <a:rPr sz="1600" dirty="0">
                <a:solidFill>
                  <a:srgbClr val="333333"/>
                </a:solidFill>
              </a:rPr>
              <a:t> </a:t>
            </a:r>
            <a:r>
              <a:rPr sz="1600" dirty="0" err="1">
                <a:solidFill>
                  <a:srgbClr val="333333"/>
                </a:solidFill>
              </a:rPr>
              <a:t>calculado</a:t>
            </a:r>
            <a:r>
              <a:rPr sz="1600" dirty="0">
                <a:solidFill>
                  <a:srgbClr val="333333"/>
                </a:solidFill>
              </a:rPr>
              <a:t>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188720"/>
            <a:ext cx="5577840" cy="5212080"/>
          </a:xfrm>
          <a:prstGeom prst="rect">
            <a:avLst/>
          </a:prstGeom>
          <a:solidFill>
            <a:srgbClr val="F0FBF0"/>
          </a:solidFill>
          <a:ln w="1905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29844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A7A4A"/>
                </a:solidFill>
              </a:rPr>
              <a:t>→  </a:t>
            </a:r>
            <a:r>
              <a:rPr sz="2000" b="1" i="0" dirty="0" err="1">
                <a:solidFill>
                  <a:srgbClr val="1A7A4A"/>
                </a:solidFill>
              </a:rPr>
              <a:t>Próximos</a:t>
            </a:r>
            <a:r>
              <a:rPr sz="2000" b="1" i="0" dirty="0">
                <a:solidFill>
                  <a:srgbClr val="1A7A4A"/>
                </a:solidFill>
              </a:rPr>
              <a:t> </a:t>
            </a:r>
            <a:r>
              <a:rPr sz="2000" b="1" i="0" dirty="0" err="1">
                <a:solidFill>
                  <a:srgbClr val="1A7A4A"/>
                </a:solidFill>
              </a:rPr>
              <a:t>passos</a:t>
            </a:r>
            <a:endParaRPr sz="2000" b="1" i="0" dirty="0">
              <a:solidFill>
                <a:srgbClr val="1A7A4A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46520" y="1783080"/>
            <a:ext cx="5349240" cy="4503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dirty="0">
                <a:solidFill>
                  <a:srgbClr val="333333"/>
                </a:solidFill>
              </a:rPr>
              <a:t>▸ Features de </a:t>
            </a:r>
            <a:r>
              <a:rPr sz="1600" dirty="0" err="1">
                <a:solidFill>
                  <a:srgbClr val="333333"/>
                </a:solidFill>
              </a:rPr>
              <a:t>variância</a:t>
            </a:r>
            <a:r>
              <a:rPr sz="1600" dirty="0">
                <a:solidFill>
                  <a:srgbClr val="333333"/>
                </a:solidFill>
              </a:rPr>
              <a:t> temporal
   (</a:t>
            </a:r>
            <a:r>
              <a:rPr sz="1600" dirty="0" err="1">
                <a:solidFill>
                  <a:srgbClr val="333333"/>
                </a:solidFill>
              </a:rPr>
              <a:t>desvio</a:t>
            </a:r>
            <a:r>
              <a:rPr sz="1600" dirty="0">
                <a:solidFill>
                  <a:srgbClr val="333333"/>
                </a:solidFill>
              </a:rPr>
              <a:t> </a:t>
            </a:r>
            <a:r>
              <a:rPr sz="1600" dirty="0" err="1">
                <a:solidFill>
                  <a:srgbClr val="333333"/>
                </a:solidFill>
              </a:rPr>
              <a:t>padrão</a:t>
            </a:r>
            <a:r>
              <a:rPr sz="1600" dirty="0">
                <a:solidFill>
                  <a:srgbClr val="333333"/>
                </a:solidFill>
              </a:rPr>
              <a:t> </a:t>
            </a:r>
            <a:r>
              <a:rPr sz="1600" dirty="0" err="1">
                <a:solidFill>
                  <a:srgbClr val="333333"/>
                </a:solidFill>
              </a:rPr>
              <a:t>na</a:t>
            </a:r>
            <a:r>
              <a:rPr sz="1600" dirty="0">
                <a:solidFill>
                  <a:srgbClr val="333333"/>
                </a:solidFill>
              </a:rPr>
              <a:t> </a:t>
            </a:r>
            <a:r>
              <a:rPr sz="1600" dirty="0" err="1">
                <a:solidFill>
                  <a:srgbClr val="333333"/>
                </a:solidFill>
              </a:rPr>
              <a:t>janela</a:t>
            </a:r>
            <a:r>
              <a:rPr sz="1600" dirty="0">
                <a:solidFill>
                  <a:srgbClr val="333333"/>
                </a:solidFill>
              </a:rPr>
              <a:t>) → </a:t>
            </a:r>
            <a:r>
              <a:rPr sz="1600" dirty="0" err="1">
                <a:solidFill>
                  <a:srgbClr val="333333"/>
                </a:solidFill>
              </a:rPr>
              <a:t>melhorar</a:t>
            </a:r>
            <a:r>
              <a:rPr sz="1600" dirty="0">
                <a:solidFill>
                  <a:srgbClr val="333333"/>
                </a:solidFill>
              </a:rPr>
              <a:t> </a:t>
            </a:r>
            <a:r>
              <a:rPr sz="1600" dirty="0" err="1">
                <a:solidFill>
                  <a:srgbClr val="333333"/>
                </a:solidFill>
              </a:rPr>
              <a:t>descanso</a:t>
            </a:r>
            <a:endParaRPr lang="pt-BR" sz="160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endParaRPr sz="160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1600" dirty="0">
                <a:solidFill>
                  <a:srgbClr val="333333"/>
                </a:solidFill>
              </a:rPr>
              <a:t>▸ </a:t>
            </a:r>
            <a:r>
              <a:rPr sz="1600" dirty="0" err="1">
                <a:solidFill>
                  <a:srgbClr val="333333"/>
                </a:solidFill>
              </a:rPr>
              <a:t>Ampliar</a:t>
            </a:r>
            <a:r>
              <a:rPr sz="1600" dirty="0">
                <a:solidFill>
                  <a:srgbClr val="333333"/>
                </a:solidFill>
              </a:rPr>
              <a:t> dataset: </a:t>
            </a:r>
            <a:r>
              <a:rPr sz="1600" dirty="0" err="1">
                <a:solidFill>
                  <a:srgbClr val="333333"/>
                </a:solidFill>
              </a:rPr>
              <a:t>diversidade</a:t>
            </a:r>
            <a:r>
              <a:rPr sz="1600" dirty="0">
                <a:solidFill>
                  <a:srgbClr val="333333"/>
                </a:solidFill>
              </a:rPr>
              <a:t> de
   </a:t>
            </a:r>
            <a:r>
              <a:rPr sz="1600" dirty="0" err="1">
                <a:solidFill>
                  <a:srgbClr val="333333"/>
                </a:solidFill>
              </a:rPr>
              <a:t>sujeitos</a:t>
            </a:r>
            <a:r>
              <a:rPr sz="1600" dirty="0">
                <a:solidFill>
                  <a:srgbClr val="333333"/>
                </a:solidFill>
              </a:rPr>
              <a:t>, </a:t>
            </a:r>
            <a:r>
              <a:rPr sz="1600" dirty="0" err="1">
                <a:solidFill>
                  <a:srgbClr val="333333"/>
                </a:solidFill>
              </a:rPr>
              <a:t>biotipos</a:t>
            </a:r>
            <a:r>
              <a:rPr sz="1600" dirty="0">
                <a:solidFill>
                  <a:srgbClr val="333333"/>
                </a:solidFill>
              </a:rPr>
              <a:t>, </a:t>
            </a:r>
            <a:r>
              <a:rPr sz="1600" dirty="0" err="1">
                <a:solidFill>
                  <a:srgbClr val="333333"/>
                </a:solidFill>
              </a:rPr>
              <a:t>idades</a:t>
            </a:r>
            <a:r>
              <a:rPr sz="1600" dirty="0">
                <a:solidFill>
                  <a:srgbClr val="333333"/>
                </a:solidFill>
              </a:rPr>
              <a:t> e </a:t>
            </a:r>
            <a:r>
              <a:rPr sz="1600" dirty="0" err="1">
                <a:solidFill>
                  <a:srgbClr val="333333"/>
                </a:solidFill>
              </a:rPr>
              <a:t>sexos</a:t>
            </a:r>
            <a:endParaRPr lang="pt-BR" sz="160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endParaRPr sz="160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1600" dirty="0">
                <a:solidFill>
                  <a:srgbClr val="333333"/>
                </a:solidFill>
              </a:rPr>
              <a:t>▸ </a:t>
            </a:r>
            <a:r>
              <a:rPr sz="1600" dirty="0" err="1">
                <a:solidFill>
                  <a:srgbClr val="333333"/>
                </a:solidFill>
              </a:rPr>
              <a:t>Novos</a:t>
            </a:r>
            <a:r>
              <a:rPr sz="1600" dirty="0">
                <a:solidFill>
                  <a:srgbClr val="333333"/>
                </a:solidFill>
              </a:rPr>
              <a:t> </a:t>
            </a:r>
            <a:r>
              <a:rPr sz="1600" dirty="0" err="1">
                <a:solidFill>
                  <a:srgbClr val="333333"/>
                </a:solidFill>
              </a:rPr>
              <a:t>exercícios</a:t>
            </a:r>
            <a:r>
              <a:rPr sz="1600" dirty="0">
                <a:solidFill>
                  <a:srgbClr val="333333"/>
                </a:solidFill>
              </a:rPr>
              <a:t> com </a:t>
            </a:r>
            <a:r>
              <a:rPr sz="1600" dirty="0" err="1">
                <a:solidFill>
                  <a:srgbClr val="333333"/>
                </a:solidFill>
              </a:rPr>
              <a:t>equipamentos</a:t>
            </a:r>
            <a:r>
              <a:rPr sz="1600" dirty="0">
                <a:solidFill>
                  <a:srgbClr val="333333"/>
                </a:solidFill>
              </a:rPr>
              <a:t>
   e </a:t>
            </a:r>
            <a:r>
              <a:rPr sz="1600" dirty="0" err="1">
                <a:solidFill>
                  <a:srgbClr val="333333"/>
                </a:solidFill>
              </a:rPr>
              <a:t>rotações</a:t>
            </a:r>
            <a:r>
              <a:rPr sz="1600" dirty="0">
                <a:solidFill>
                  <a:srgbClr val="333333"/>
                </a:solidFill>
              </a:rPr>
              <a:t> de </a:t>
            </a:r>
            <a:r>
              <a:rPr sz="1600" dirty="0" err="1">
                <a:solidFill>
                  <a:srgbClr val="333333"/>
                </a:solidFill>
              </a:rPr>
              <a:t>tronco</a:t>
            </a:r>
            <a:endParaRPr lang="pt-BR" sz="160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endParaRPr sz="160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1600" dirty="0">
                <a:solidFill>
                  <a:srgbClr val="333333"/>
                </a:solidFill>
              </a:rPr>
              <a:t>▸ Pose 3D (</a:t>
            </a:r>
            <a:r>
              <a:rPr sz="1600" dirty="0" err="1">
                <a:solidFill>
                  <a:srgbClr val="333333"/>
                </a:solidFill>
              </a:rPr>
              <a:t>câmera</a:t>
            </a:r>
            <a:r>
              <a:rPr sz="1600" dirty="0">
                <a:solidFill>
                  <a:srgbClr val="333333"/>
                </a:solidFill>
              </a:rPr>
              <a:t> </a:t>
            </a:r>
            <a:r>
              <a:rPr sz="1600" dirty="0" err="1">
                <a:solidFill>
                  <a:srgbClr val="333333"/>
                </a:solidFill>
              </a:rPr>
              <a:t>estéreo</a:t>
            </a:r>
            <a:r>
              <a:rPr sz="1600" dirty="0">
                <a:solidFill>
                  <a:srgbClr val="333333"/>
                </a:solidFill>
              </a:rPr>
              <a:t> / depth)
   → </a:t>
            </a:r>
            <a:r>
              <a:rPr sz="1600" dirty="0" err="1">
                <a:solidFill>
                  <a:srgbClr val="333333"/>
                </a:solidFill>
              </a:rPr>
              <a:t>eliminar</a:t>
            </a:r>
            <a:r>
              <a:rPr sz="1600" dirty="0">
                <a:solidFill>
                  <a:srgbClr val="333333"/>
                </a:solidFill>
              </a:rPr>
              <a:t> </a:t>
            </a:r>
            <a:r>
              <a:rPr sz="1600" dirty="0" err="1">
                <a:solidFill>
                  <a:srgbClr val="333333"/>
                </a:solidFill>
              </a:rPr>
              <a:t>distorção</a:t>
            </a:r>
            <a:r>
              <a:rPr sz="1600" dirty="0">
                <a:solidFill>
                  <a:srgbClr val="333333"/>
                </a:solidFill>
              </a:rPr>
              <a:t> de </a:t>
            </a:r>
            <a:r>
              <a:rPr sz="1600" dirty="0" err="1">
                <a:solidFill>
                  <a:srgbClr val="333333"/>
                </a:solidFill>
              </a:rPr>
              <a:t>perspectiva</a:t>
            </a:r>
            <a:endParaRPr lang="pt-BR" sz="160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endParaRPr sz="160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r>
              <a:rPr sz="1600" dirty="0">
                <a:solidFill>
                  <a:srgbClr val="333333"/>
                </a:solidFill>
              </a:rPr>
              <a:t>▸ Feedback de </a:t>
            </a:r>
            <a:r>
              <a:rPr sz="1600" dirty="0" err="1">
                <a:solidFill>
                  <a:srgbClr val="333333"/>
                </a:solidFill>
              </a:rPr>
              <a:t>qualidade</a:t>
            </a:r>
            <a:r>
              <a:rPr sz="1600" dirty="0">
                <a:solidFill>
                  <a:srgbClr val="333333"/>
                </a:solidFill>
              </a:rPr>
              <a:t>: </a:t>
            </a:r>
            <a:r>
              <a:rPr sz="1600" dirty="0" err="1">
                <a:solidFill>
                  <a:srgbClr val="333333"/>
                </a:solidFill>
              </a:rPr>
              <a:t>assimetria</a:t>
            </a:r>
            <a:r>
              <a:rPr sz="1600" dirty="0">
                <a:solidFill>
                  <a:srgbClr val="333333"/>
                </a:solidFill>
              </a:rPr>
              <a:t>,
   amplitude </a:t>
            </a:r>
            <a:r>
              <a:rPr sz="1600" dirty="0" err="1">
                <a:solidFill>
                  <a:srgbClr val="333333"/>
                </a:solidFill>
              </a:rPr>
              <a:t>insuficiente</a:t>
            </a:r>
            <a:r>
              <a:rPr sz="1600" dirty="0">
                <a:solidFill>
                  <a:srgbClr val="333333"/>
                </a:solidFill>
              </a:rPr>
              <a:t>, </a:t>
            </a:r>
            <a:r>
              <a:rPr sz="1600" dirty="0" err="1">
                <a:solidFill>
                  <a:srgbClr val="333333"/>
                </a:solidFill>
              </a:rPr>
              <a:t>fadiga</a:t>
            </a:r>
            <a:endParaRPr lang="pt-BR" sz="1600" dirty="0">
              <a:solidFill>
                <a:srgbClr val="333333"/>
              </a:solidFill>
            </a:endParaRPr>
          </a:p>
          <a:p>
            <a:pPr>
              <a:spcBef>
                <a:spcPts val="400"/>
              </a:spcBef>
            </a:pPr>
            <a:endParaRPr sz="1600" dirty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846320"/>
            <a:ext cx="12188952" cy="2011680"/>
          </a:xfrm>
          <a:prstGeom prst="rect">
            <a:avLst/>
          </a:prstGeom>
          <a:solidFill>
            <a:srgbClr val="12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70852" y="246888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 dirty="0" err="1">
                <a:solidFill>
                  <a:srgbClr val="FFFFFF"/>
                </a:solidFill>
              </a:rPr>
              <a:t>Obrigado</a:t>
            </a:r>
            <a:r>
              <a:rPr sz="7200" b="1" i="0" dirty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B4E0"/>
                </a:solidFill>
              </a:rPr>
              <a:t>Rafael Luckner Flora  ·  Leticia Ruivo Tambelli
Paulo Vitor Nascimento Silva  ·  Rodrigo Araújo Sousa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350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096C0"/>
                </a:solidFill>
              </a:rPr>
              <a:t>Orientador: Prof. Dr. Jaime Ranulfo Leite Filho  ·  UNISO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653</TotalTime>
  <Words>924</Words>
  <Application>Microsoft Office PowerPoint</Application>
  <PresentationFormat>Personalizar</PresentationFormat>
  <Paragraphs>156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Rafael Luckner</cp:lastModifiedBy>
  <cp:revision>5</cp:revision>
  <dcterms:created xsi:type="dcterms:W3CDTF">2013-01-27T09:14:16Z</dcterms:created>
  <dcterms:modified xsi:type="dcterms:W3CDTF">2026-05-12T19:21:34Z</dcterms:modified>
  <cp:category/>
</cp:coreProperties>
</file>